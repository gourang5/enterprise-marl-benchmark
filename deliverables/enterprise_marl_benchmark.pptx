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Enterprise Multi-Agent RL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B0D8FF"/>
                </a:solidFill>
              </a:rPr>
              <a:t>Can autonomous agents coordinate across applications, roles, and permissions
to complete realistic enterprise workflows?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383280"/>
            <a:ext cx="210312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9CFF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0690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D"/>
                </a:solidFill>
              </a:rPr>
              <a:t>Heterogeneous
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3383280"/>
            <a:ext cx="210312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9CFF"/>
                </a:solidFill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40690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D"/>
                </a:solidFill>
              </a:rPr>
              <a:t>Simulated
Apps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383280"/>
            <a:ext cx="210312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9CFF"/>
                </a:solidFill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0690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D"/>
                </a:solidFill>
              </a:rPr>
              <a:t>Dependency-
Gated Tasks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3383280"/>
            <a:ext cx="2103120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32520" y="34290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E9CFF"/>
                </a:solidFill>
              </a:rP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06908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D"/>
                </a:solidFill>
              </a:rPr>
              <a:t>Automated
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BAD"/>
                </a:solidFill>
              </a:rPr>
              <a:t>Shared SQLite State  ·  Deterministic Evaluator  ·  Fully Reproducible from Seed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2910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v1.3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1 —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Why Existing Benchmarks Miss Enterprise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Enterprise coordination demands all these dimensions simultaneously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2743200" cy="512064"/>
          </a:xfrm>
          <a:prstGeom prst="rect">
            <a:avLst/>
          </a:prstGeom>
          <a:solidFill>
            <a:srgbClr val="3A5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84248"/>
            <a:ext cx="25603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874519"/>
            <a:ext cx="3474720" cy="5120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984248"/>
            <a:ext cx="3291839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Typical Benchmark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874519"/>
            <a:ext cx="4114800" cy="5120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984248"/>
            <a:ext cx="393192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This Benchmark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86584"/>
            <a:ext cx="27432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78024"/>
            <a:ext cx="25237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Agents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86584"/>
            <a:ext cx="3474720" cy="512064"/>
          </a:xfrm>
          <a:prstGeom prst="rect">
            <a:avLst/>
          </a:prstGeom>
          <a:solidFill>
            <a:srgbClr val="E8ECF0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2478024"/>
            <a:ext cx="3255263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A6A"/>
                </a:solidFill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2386584"/>
            <a:ext cx="4114800" cy="512064"/>
          </a:xfrm>
          <a:prstGeom prst="rect">
            <a:avLst/>
          </a:prstGeom>
          <a:solidFill>
            <a:srgbClr val="E6F6E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2478024"/>
            <a:ext cx="38953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A42"/>
                </a:solidFill>
              </a:rPr>
              <a:t>5, heterogeneous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98648"/>
            <a:ext cx="27432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2990088"/>
            <a:ext cx="25237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Apps / 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2898648"/>
            <a:ext cx="3474720" cy="512064"/>
          </a:xfrm>
          <a:prstGeom prst="rect">
            <a:avLst/>
          </a:prstGeom>
          <a:solidFill>
            <a:srgbClr val="E8ECF0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2990088"/>
            <a:ext cx="3255263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A6A"/>
                </a:solidFill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2898648"/>
            <a:ext cx="4114800" cy="512064"/>
          </a:xfrm>
          <a:prstGeom prst="rect">
            <a:avLst/>
          </a:prstGeom>
          <a:solidFill>
            <a:srgbClr val="E6F6E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0608" y="2990088"/>
            <a:ext cx="38953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A42"/>
                </a:solidFill>
              </a:rPr>
              <a:t>5, shared persistent 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10712"/>
            <a:ext cx="27432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502152"/>
            <a:ext cx="25237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Permissions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3410712"/>
            <a:ext cx="3474720" cy="512064"/>
          </a:xfrm>
          <a:prstGeom prst="rect">
            <a:avLst/>
          </a:prstGeom>
          <a:solidFill>
            <a:srgbClr val="E8ECF0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3008" y="3502152"/>
            <a:ext cx="3255263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A6A"/>
                </a:solidFill>
              </a:rPr>
              <a:t>None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40880" y="3410712"/>
            <a:ext cx="4114800" cy="512064"/>
          </a:xfrm>
          <a:prstGeom prst="rect">
            <a:avLst/>
          </a:prstGeom>
          <a:solidFill>
            <a:srgbClr val="E6F6E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0608" y="3502152"/>
            <a:ext cx="38953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A42"/>
                </a:solidFill>
              </a:rPr>
              <a:t>Per-role × per-app × per-sheet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922776"/>
            <a:ext cx="27432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014215"/>
            <a:ext cx="25237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Horizon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3922776"/>
            <a:ext cx="3474720" cy="512064"/>
          </a:xfrm>
          <a:prstGeom prst="rect">
            <a:avLst/>
          </a:prstGeom>
          <a:solidFill>
            <a:srgbClr val="E8ECF0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93008" y="4014215"/>
            <a:ext cx="3255263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A6A"/>
                </a:solidFill>
              </a:rPr>
              <a:t>1–5 steps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3922776"/>
            <a:ext cx="4114800" cy="512064"/>
          </a:xfrm>
          <a:prstGeom prst="rect">
            <a:avLst/>
          </a:prstGeom>
          <a:solidFill>
            <a:srgbClr val="E6F6E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50608" y="4014215"/>
            <a:ext cx="38953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A42"/>
                </a:solidFill>
              </a:rPr>
              <a:t>8–17 subgoals, 25–45 steps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434840"/>
            <a:ext cx="27432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526279"/>
            <a:ext cx="25237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Dependencies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4434840"/>
            <a:ext cx="3474720" cy="512064"/>
          </a:xfrm>
          <a:prstGeom prst="rect">
            <a:avLst/>
          </a:prstGeom>
          <a:solidFill>
            <a:srgbClr val="E8ECF0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93008" y="4526279"/>
            <a:ext cx="3255263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A6A"/>
                </a:solidFill>
              </a:rPr>
              <a:t>None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4434840"/>
            <a:ext cx="4114800" cy="512064"/>
          </a:xfrm>
          <a:prstGeom prst="rect">
            <a:avLst/>
          </a:prstGeom>
          <a:solidFill>
            <a:srgbClr val="E6F6E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0608" y="4526279"/>
            <a:ext cx="38953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A42"/>
                </a:solidFill>
              </a:rPr>
              <a:t>Gated DAG — later credit blocked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946904"/>
            <a:ext cx="27432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5038344"/>
            <a:ext cx="25237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Information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83280" y="4946904"/>
            <a:ext cx="3474720" cy="512064"/>
          </a:xfrm>
          <a:prstGeom prst="rect">
            <a:avLst/>
          </a:prstGeom>
          <a:solidFill>
            <a:srgbClr val="E8ECF0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93008" y="5038344"/>
            <a:ext cx="3255263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A6A"/>
                </a:solidFill>
              </a:rPr>
              <a:t>Symmetric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40880" y="4946904"/>
            <a:ext cx="4114800" cy="512064"/>
          </a:xfrm>
          <a:prstGeom prst="rect">
            <a:avLst/>
          </a:prstGeom>
          <a:solidFill>
            <a:srgbClr val="E6F6E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50608" y="5038344"/>
            <a:ext cx="38953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A42"/>
                </a:solidFill>
              </a:rPr>
              <a:t>Asymmetric per-agent observations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458968"/>
            <a:ext cx="2743200" cy="512064"/>
          </a:xfrm>
          <a:prstGeom prst="rect">
            <a:avLst/>
          </a:prstGeom>
          <a:solidFill>
            <a:srgbClr val="F7FAFC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66928" y="5550408"/>
            <a:ext cx="25237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Evaluation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0" y="5458968"/>
            <a:ext cx="3474720" cy="512064"/>
          </a:xfrm>
          <a:prstGeom prst="rect">
            <a:avLst/>
          </a:prstGeom>
          <a:solidFill>
            <a:srgbClr val="E8ECF0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93008" y="5550408"/>
            <a:ext cx="3255263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A6A6A"/>
                </a:solidFill>
              </a:rPr>
              <a:t>String match / LLM judge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40880" y="5458968"/>
            <a:ext cx="4114800" cy="512064"/>
          </a:xfrm>
          <a:prstGeom prst="rect">
            <a:avLst/>
          </a:prstGeom>
          <a:solidFill>
            <a:srgbClr val="E6F6EF"/>
          </a:solidFill>
          <a:ln w="635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50608" y="5550408"/>
            <a:ext cx="38953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A42"/>
                </a:solidFill>
              </a:rPr>
              <a:t>Deterministic DB state check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897880"/>
            <a:ext cx="11274552" cy="457200"/>
          </a:xfrm>
          <a:prstGeom prst="rect">
            <a:avLst/>
          </a:prstGeom>
          <a:solidFill>
            <a:srgbClr val="0D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943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Design thesis: a single evaluation environment that combines all of these dimensions simultaneously.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1 —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Environment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One synthetic company · five app simulators · one shared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1691640"/>
            <a:ext cx="1645920" cy="6400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737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Gmail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691640"/>
            <a:ext cx="1645920" cy="640080"/>
          </a:xfrm>
          <a:prstGeom prst="rect">
            <a:avLst/>
          </a:prstGeom>
          <a:solidFill>
            <a:srgbClr val="4A1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1737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Slack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691640"/>
            <a:ext cx="1645920" cy="64008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737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Jira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599" y="1691640"/>
            <a:ext cx="1645920" cy="64008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6599" y="1737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Calendar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1691640"/>
            <a:ext cx="1645920" cy="640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7373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Sheets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39572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9CFF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2788920"/>
            <a:ext cx="576072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8346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E9CFF"/>
                </a:solidFill>
              </a:rPr>
              <a:t>SQLite  —  Shared Company State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57600"/>
            <a:ext cx="4114800" cy="100584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B3C"/>
                </a:solidFill>
              </a:rPr>
              <a:t>Agent Observations
(role-filtered per agent)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3657600"/>
            <a:ext cx="4114800" cy="100584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370332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2B3C"/>
                </a:solidFill>
              </a:rPr>
              <a:t>Deterministic Evaluator
(private, state-based)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846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•  Every episode resets from a deterministic integer seed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193792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•  Evaluator state is NOT visible to agents — info["eval"] is separate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5412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•  Semantic tool actions — malformed calls are invalid transitions, not crashes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88736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•  An agent cannot succeed by claiming 'task complete' in Slack — the DB must match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1 —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Gymnasium-compatible RL interface with semantic action dispatch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91640"/>
            <a:ext cx="9418320" cy="658368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Policy /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7647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0FF"/>
                </a:solidFill>
              </a:rPr>
              <a:t>Issues Action(agent, app, action_type, params)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35000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9CFF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560320"/>
            <a:ext cx="9418320" cy="658368"/>
          </a:xfrm>
          <a:prstGeom prst="rect">
            <a:avLst/>
          </a:prstGeom>
          <a:solidFill>
            <a:srgbClr val="1A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6060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EnterpriseEnv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633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0FF"/>
                </a:solidFill>
              </a:rPr>
              <a:t>Role-filtered obs · Action validator · Reward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218687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9CFF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429000"/>
            <a:ext cx="9418320" cy="658368"/>
          </a:xfrm>
          <a:prstGeom prst="rect">
            <a:avLst/>
          </a:prstGeom>
          <a:solidFill>
            <a:srgbClr val="0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474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 Simulators (thin, stateless)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502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0FF"/>
                </a:solidFill>
              </a:rPr>
              <a:t>Pure DB reads/writes: Gmail · Slack · Jira · Calendar · Sheets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40873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9CFF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4297679"/>
            <a:ext cx="94183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34339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SQLite Shared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437083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0FF"/>
                </a:solidFill>
              </a:rPr>
              <a:t>Single source of truth across all apps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956047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9CFF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5166360"/>
            <a:ext cx="9418320" cy="658368"/>
          </a:xfrm>
          <a:prstGeom prst="rect">
            <a:avLst/>
          </a:prstGeom>
          <a:solidFill>
            <a:srgbClr val="6A2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212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Private Verifier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2395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0FF"/>
                </a:solidFill>
              </a:rPr>
              <a:t>DAG + subgoal checks  →  reward + info["eval"]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9893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AD"/>
                </a:solidFill>
              </a:rPr>
              <a:t>•  Execution: turn-based, actor-selected sequential (not truly parallel)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5449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AD"/>
                </a:solidFill>
              </a:rPr>
              <a:t>•  RL interface: Gymnasium-compatible  reset(seed) / step(action) / close()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96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BAD"/>
                </a:solidFill>
              </a:rPr>
              <a:t>•  PettingZoo AEC adapter available — EXPERIMENTAL (not fully tested)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1 —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Multi-Agent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Five agents · different roles · different app access · different information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74519"/>
            <a:ext cx="1417320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96596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874519"/>
            <a:ext cx="2148840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96596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874519"/>
            <a:ext cx="777240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96596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874519"/>
            <a:ext cx="777240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96596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Slack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874519"/>
            <a:ext cx="777240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196596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Jira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874519"/>
            <a:ext cx="960120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96596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Calendar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0" y="1874519"/>
            <a:ext cx="1143000" cy="5669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3800" y="196596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Sheets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441448"/>
            <a:ext cx="141732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55117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5CFF"/>
                </a:solidFill>
              </a:rPr>
              <a:t>pm_01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2441448"/>
            <a:ext cx="214884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4519" y="255117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B3C"/>
                </a:solidFill>
              </a:rPr>
              <a:t>Project Manager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2441448"/>
            <a:ext cx="77724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69080" y="255117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2441448"/>
            <a:ext cx="77724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255117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441448"/>
            <a:ext cx="77724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15000" y="255117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441448"/>
            <a:ext cx="96012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25511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0" y="2441448"/>
            <a:ext cx="114300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255117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B3C"/>
                </a:solidFill>
              </a:rPr>
              <a:t>Owner R/W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141732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1181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B070"/>
                </a:solidFill>
              </a:rPr>
              <a:t>eng_01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0" y="3008376"/>
            <a:ext cx="214884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4519" y="311810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B3C"/>
                </a:solidFill>
              </a:rPr>
              <a:t>Engineer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3008376"/>
            <a:ext cx="77724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69080" y="311810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D"/>
                </a:solidFill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46320" y="3008376"/>
            <a:ext cx="77724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311810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3008376"/>
            <a:ext cx="77724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311810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3008376"/>
            <a:ext cx="96012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311810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80" y="3008376"/>
            <a:ext cx="114300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311810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B3C"/>
                </a:solidFill>
              </a:rPr>
              <a:t>Viewer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575303"/>
            <a:ext cx="141732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3685031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1A"/>
                </a:solidFill>
              </a:rPr>
              <a:t>product_01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0" y="3575303"/>
            <a:ext cx="214884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74519" y="3685031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B3C"/>
                </a:solidFill>
              </a:rPr>
              <a:t>Product Manager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23360" y="3575303"/>
            <a:ext cx="77724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69080" y="3685031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D"/>
                </a:solidFill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46320" y="3575303"/>
            <a:ext cx="77724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3685031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0" y="3575303"/>
            <a:ext cx="77724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15000" y="3685031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92240" y="3575303"/>
            <a:ext cx="96012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37960" y="3685031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D"/>
                </a:solidFill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498080" y="3575303"/>
            <a:ext cx="114300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43800" y="368503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B3C"/>
                </a:solidFill>
              </a:rPr>
              <a:t>Editor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142231"/>
            <a:ext cx="141732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4251959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53E3E"/>
                </a:solidFill>
              </a:rPr>
              <a:t>mgr_01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28800" y="4142231"/>
            <a:ext cx="214884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74519" y="4251959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B3C"/>
                </a:solidFill>
              </a:rPr>
              <a:t>Eng. Manager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023360" y="4142231"/>
            <a:ext cx="77724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069080" y="4251959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D"/>
                </a:solidFill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46320" y="4142231"/>
            <a:ext cx="77724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92040" y="4251959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0" y="4142231"/>
            <a:ext cx="77724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15000" y="4251959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92240" y="4142231"/>
            <a:ext cx="96012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37960" y="4251959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98080" y="4142231"/>
            <a:ext cx="1143000" cy="566928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43800" y="4251959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D"/>
                </a:solidFill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5760" y="4709160"/>
            <a:ext cx="141732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11480" y="481888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8A4ACC"/>
                </a:solidFill>
              </a:rPr>
              <a:t>cs_01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28800" y="4709160"/>
            <a:ext cx="214884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74519" y="48188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B3C"/>
                </a:solidFill>
              </a:rPr>
              <a:t>Customer Success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023360" y="4709160"/>
            <a:ext cx="77724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069080" y="481888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46320" y="4709160"/>
            <a:ext cx="77724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92040" y="481888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669280" y="4709160"/>
            <a:ext cx="77724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15000" y="481888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B070"/>
                </a:solidFill>
              </a:rPr>
              <a:t>✓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92240" y="4709160"/>
            <a:ext cx="96012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37960" y="481888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D"/>
                </a:solidFill>
              </a:rPr>
              <a:t>—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80" y="4709160"/>
            <a:ext cx="1143000" cy="566928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543800" y="481888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9BAD"/>
                </a:solidFill>
              </a:rPr>
              <a:t>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57200" y="60350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Who can act: per-agent tool whitelist enforced on every call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What each agent sees: only their own inbox, accessible channels, permitted sheets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1 —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Long-Horizon Task: Vendor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8 subgoals · 40-step horizon · 5 apps · 4 roles must 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502920"/>
          </a:xfrm>
          <a:prstGeom prst="rect">
            <a:avLst/>
          </a:prstGeom>
          <a:solidFill>
            <a:srgbClr val="1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pm_01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691640"/>
            <a:ext cx="758952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178308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Discover vendor email + find procurement ticket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0" y="1691640"/>
            <a:ext cx="201168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38360" y="17830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9CFF"/>
                </a:solidFill>
              </a:rPr>
              <a:t>Gmail → Jira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13432"/>
            <a:ext cx="1371600" cy="502920"/>
          </a:xfrm>
          <a:prstGeom prst="rect">
            <a:avLst/>
          </a:prstGeom>
          <a:solidFill>
            <a:srgbClr val="FF8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048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product_01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313432"/>
            <a:ext cx="758952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240487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Clear legal contract ticket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2313432"/>
            <a:ext cx="201168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404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9CFF"/>
                </a:solidFill>
              </a:rPr>
              <a:t>Jira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8346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BAD"/>
                </a:solidFill>
              </a:rPr>
              <a:t>⟵ parallel 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35224"/>
            <a:ext cx="1371600" cy="502920"/>
          </a:xfrm>
          <a:prstGeom prst="rect">
            <a:avLst/>
          </a:prstGeom>
          <a:solidFill>
            <a:srgbClr val="1A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2666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eng_01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2935224"/>
            <a:ext cx="758952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0" y="3026664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Confirm IT provisioning ticket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2935224"/>
            <a:ext cx="201168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302666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9CFF"/>
                </a:solidFill>
              </a:rPr>
              <a:t>Jira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4564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A9BAD"/>
                </a:solidFill>
              </a:rPr>
              <a:t>⟵ parallel 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57016"/>
            <a:ext cx="1371600" cy="50292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6484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mgr_01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65960" y="3557016"/>
            <a:ext cx="758952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03120" y="3648456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Approve procurement ticket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3557016"/>
            <a:ext cx="201168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38360" y="36484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9CFF"/>
                </a:solidFill>
              </a:rPr>
              <a:t>Jira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78808"/>
            <a:ext cx="1371600" cy="502920"/>
          </a:xfrm>
          <a:prstGeom prst="rect">
            <a:avLst/>
          </a:prstGeom>
          <a:solidFill>
            <a:srgbClr val="1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2702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pm_01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65960" y="4178808"/>
            <a:ext cx="758952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03120" y="427024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Mark vendor ACTIVE in tracker sheet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92640" y="4178808"/>
            <a:ext cx="201168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38360" y="427024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9CFF"/>
                </a:solidFill>
              </a:rPr>
              <a:t>Sheets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800600"/>
            <a:ext cx="1371600" cy="502920"/>
          </a:xfrm>
          <a:prstGeom prst="rect">
            <a:avLst/>
          </a:prstGeom>
          <a:solidFill>
            <a:srgbClr val="1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48920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pm_01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65960" y="4800600"/>
            <a:ext cx="758952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3120" y="48920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Schedule kickoff meeting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92640" y="4800600"/>
            <a:ext cx="201168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38360" y="48920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9CFF"/>
                </a:solidFill>
              </a:rPr>
              <a:t>Calendar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422392"/>
            <a:ext cx="1371600" cy="502920"/>
          </a:xfrm>
          <a:prstGeom prst="rect">
            <a:avLst/>
          </a:prstGeom>
          <a:solidFill>
            <a:srgbClr val="1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551383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pm_01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65960" y="5422392"/>
            <a:ext cx="758952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8D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03120" y="5513831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Announce completion in Slack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92640" y="5422392"/>
            <a:ext cx="201168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5513831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9CFF"/>
                </a:solidFill>
              </a:rPr>
              <a:t>Slack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309360"/>
            <a:ext cx="274320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6345936"/>
            <a:ext cx="259689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Parallel branches (legal ∥ IT)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3280" y="6309360"/>
            <a:ext cx="274320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56432" y="6345936"/>
            <a:ext cx="259689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Strict RBAC on sheet write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09360" y="6309360"/>
            <a:ext cx="274320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82512" y="6345936"/>
            <a:ext cx="259689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Negation-hardened verification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35440" y="6309360"/>
            <a:ext cx="2743200" cy="32918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08592" y="6345936"/>
            <a:ext cx="2596896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Role separation + info asymmetry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1 —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Task Dependency DAG — Vendor Onboarding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Credit fires when DB state matches the predicate — not when an agent says so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508760"/>
            <a:ext cx="2743200" cy="594360"/>
          </a:xfrm>
          <a:prstGeom prst="rect">
            <a:avLst/>
          </a:prstGeom>
          <a:solidFill>
            <a:srgbClr val="1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5453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discover_request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1051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D8FF"/>
                </a:solidFill>
              </a:rPr>
              <a:t>pm_01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331720"/>
            <a:ext cx="2743200" cy="594360"/>
          </a:xfrm>
          <a:prstGeom prst="rect">
            <a:avLst/>
          </a:prstGeom>
          <a:solidFill>
            <a:srgbClr val="1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3682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find_main_ticket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3347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D8FF"/>
                </a:solidFill>
              </a:rPr>
              <a:t>pm_01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200400"/>
            <a:ext cx="2743200" cy="594360"/>
          </a:xfrm>
          <a:prstGeom prst="rect">
            <a:avLst/>
          </a:prstGeom>
          <a:solidFill>
            <a:srgbClr val="FF8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369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legal_review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0215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D8FF"/>
                </a:solidFill>
              </a:rPr>
              <a:t>product_01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200400"/>
            <a:ext cx="2743200" cy="594360"/>
          </a:xfrm>
          <a:prstGeom prst="rect">
            <a:avLst/>
          </a:prstGeom>
          <a:solidFill>
            <a:srgbClr val="1A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323697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it_provisioning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50215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D8FF"/>
                </a:solidFill>
              </a:rPr>
              <a:t>eng_01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4069080"/>
            <a:ext cx="2743200" cy="59436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41056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manager_approval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37083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D8FF"/>
                </a:solidFill>
              </a:rPr>
              <a:t>mgr_01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4937760"/>
            <a:ext cx="2743200" cy="594360"/>
          </a:xfrm>
          <a:prstGeom prst="rect">
            <a:avLst/>
          </a:prstGeom>
          <a:solidFill>
            <a:srgbClr val="1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49743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update_vendor_sheet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23951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D8FF"/>
                </a:solidFill>
              </a:rPr>
              <a:t>pm_01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806440"/>
            <a:ext cx="2743200" cy="594360"/>
          </a:xfrm>
          <a:prstGeom prst="rect">
            <a:avLst/>
          </a:prstGeom>
          <a:solidFill>
            <a:srgbClr val="1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843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schedule_kickoff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61081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D8FF"/>
                </a:solidFill>
              </a:rPr>
              <a:t>pm_01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5806440"/>
            <a:ext cx="2743200" cy="594360"/>
          </a:xfrm>
          <a:prstGeom prst="rect">
            <a:avLst/>
          </a:prstGeom>
          <a:solidFill>
            <a:srgbClr val="1A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0" y="584301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announce_live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610819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D8FF"/>
                </a:solidFill>
              </a:rPr>
              <a:t>pm_01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9CFF"/>
                </a:solidFill>
              </a:rPr>
              <a:t>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2971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9CFF"/>
                </a:solidFill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840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9CFF"/>
                </a:solidFill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7091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9CFF"/>
                </a:solidFill>
              </a:rP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3840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9CFF"/>
                </a:solidFill>
              </a:rPr>
              <a:t>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3840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9CFF"/>
                </a:solidFill>
              </a:rPr>
              <a:t>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577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9CFF"/>
                </a:solidFill>
              </a:rPr>
              <a:t>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577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9CFF"/>
                </a:solidFill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56032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•  Subgoals are locked until all prerequisites complete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3063239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•  Parallel branches (legal ∥ IT) both required before schedule_kickoff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356616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•  Verifier is negation-hardened: "NOT provisioned" fails · "Provisioned and confirmed" passes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1 —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Partial Observability &amp;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Agents must search and discover — ticket IDs are never pre-known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029200" cy="3474720"/>
          </a:xfrm>
          <a:prstGeom prst="rect">
            <a:avLst/>
          </a:prstGeom>
          <a:solidFill>
            <a:srgbClr val="E6F0FF"/>
          </a:solidFill>
          <a:ln w="12700">
            <a:solidFill>
              <a:srgbClr val="2E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9CFF"/>
                </a:solidFill>
              </a:rPr>
              <a:t>What each agent CAN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91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B070"/>
                </a:solidFill>
              </a:rPr>
              <a:t>✓  Own email inbox headers (body requires read_email)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950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B070"/>
                </a:solidFill>
              </a:rPr>
              <a:t>✓  Slack channels they belong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1985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B070"/>
                </a:solidFill>
              </a:rPr>
              <a:t>✓  Jira tickets returned by their own search query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502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B070"/>
                </a:solidFill>
              </a:rPr>
              <a:t>✓  Own calendar events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828800"/>
            <a:ext cx="5029200" cy="3474720"/>
          </a:xfrm>
          <a:prstGeom prst="rect">
            <a:avLst/>
          </a:prstGeom>
          <a:solidFill>
            <a:srgbClr val="FFF0E8"/>
          </a:solidFill>
          <a:ln w="12700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8745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E3E"/>
                </a:solidFill>
              </a:rPr>
              <a:t>What NO agent can see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3591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E3E"/>
                </a:solidFill>
              </a:rPr>
              <a:t>✗  Other agents' inboxes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88950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E3E"/>
                </a:solidFill>
              </a:rPr>
              <a:t>✗  Verifier progress or subgoal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41985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E3E"/>
                </a:solidFill>
              </a:rPr>
              <a:t>✗  Full Jira database (search required)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39502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3E3E"/>
                </a:solidFill>
              </a:rPr>
              <a:t>✗  Sheet cells outside membership role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32704" y="2194560"/>
            <a:ext cx="914400" cy="2743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29184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1A2B3C"/>
                </a:solidFill>
              </a:rPr>
              <a:t>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9CFF"/>
                </a:solidFill>
              </a:rPr>
              <a:t>Wrong permission → {"success": false, "message": "Permission denied"} — not silent failure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1 —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Reward Design &amp; Deterministic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Shaped signal across subgoal DAG · terminal success · anti-hacking penalties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901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9019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9019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1247120" cy="448056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6829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Valid tool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3682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B070"/>
                </a:solidFill>
              </a:rPr>
              <a:t>+0.25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36829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Execution credit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61488"/>
            <a:ext cx="11247120" cy="448056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843784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Subgoal unlocked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84378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9CFF"/>
                </a:solidFill>
              </a:rPr>
              <a:t>+8×(1/N)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843784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Shaped, per new subgoal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36976"/>
            <a:ext cx="11247120" cy="448056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3192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Coordination bonus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33192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9A"/>
                </a:solidFill>
              </a:rPr>
              <a:t>+2.0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319272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Multi-agent handoff required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12464"/>
            <a:ext cx="11247120" cy="448056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9476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Terminal success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7947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B070"/>
                </a:solidFill>
              </a:rPr>
              <a:t>+75.0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3794760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Episode completion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87952"/>
            <a:ext cx="11247120" cy="448056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27024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Redundant action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27024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53E3E"/>
                </a:solidFill>
              </a:rPr>
              <a:t>−1.0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4270248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Penalises reward farming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663440"/>
            <a:ext cx="11247120" cy="448056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7457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Step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7457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6000"/>
                </a:solidFill>
              </a:rPr>
              <a:t>−0.10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4745736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Efficiency pressure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138928"/>
            <a:ext cx="11247120" cy="448056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221224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Timeout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522122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53E3E"/>
                </a:solidFill>
              </a:rPr>
              <a:t>−15.0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5221224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Horizon enforcement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035040"/>
            <a:ext cx="11247120" cy="594360"/>
          </a:xfrm>
          <a:prstGeom prst="rect">
            <a:avLst/>
          </a:prstGeom>
          <a:solidFill>
            <a:srgbClr val="E6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61081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5A36"/>
                </a:solidFill>
              </a:rPr>
              <a:t>Verification: Success = state predicate over SQLite — not string match, not LLM judge. Clause-boundary negation detection: "NOT approved" → fail · "Approved. No further action." → 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1 —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Evaluation, Baselines &amp; Replay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Four-tier policy taxonomy · Wilson 95% CI · HTML trajectory viewer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42232"/>
            <a:ext cx="2286000" cy="109728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776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9BAD"/>
                </a:solidFill>
              </a:rPr>
              <a:t>0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251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B3C"/>
                </a:solidFill>
              </a:rPr>
              <a:t>Random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4142232"/>
            <a:ext cx="2286000" cy="109728"/>
          </a:xfrm>
          <a:prstGeom prst="rect">
            <a:avLst/>
          </a:prstGeom>
          <a:solidFill>
            <a:srgbClr val="FF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37764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52A"/>
                </a:solidFill>
              </a:rPr>
              <a:t>0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3251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B3C"/>
                </a:solidFill>
              </a:rPr>
              <a:t>Zero-Shot 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2203704"/>
            <a:ext cx="2286000" cy="2048256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8379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9CFF"/>
                </a:solidFill>
              </a:rPr>
              <a:t>24 /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3251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B3C"/>
                </a:solidFill>
              </a:rPr>
              <a:t>Hint-Guided 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691640"/>
            <a:ext cx="2286000" cy="2560320"/>
          </a:xfrm>
          <a:prstGeom prst="rect">
            <a:avLst/>
          </a:prstGeom>
          <a:solidFill>
            <a:srgbClr val="1A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325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B070"/>
                </a:solidFill>
              </a:rPr>
              <a:t>30 / 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3251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B3C"/>
                </a:solidFill>
              </a:rPr>
              <a:t>Oracle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51960"/>
            <a:ext cx="1143000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663440"/>
            <a:ext cx="1124712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73659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47365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473659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074920"/>
            <a:ext cx="11247120" cy="384048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1480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Random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39" y="514807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0/30 episodes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5148072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Lower bound — tasks non-trivial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68112"/>
            <a:ext cx="11247120" cy="384048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5412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Zero-Shot 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39" y="554126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0/30 ep (5 ep/task)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5541264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qwen2.5:3b — model-dependent ceiling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861304"/>
            <a:ext cx="11247120" cy="384048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934456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Hint-Guided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39" y="593445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24/30 ep (5 ep/task)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5934456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SOP debug baseline — NOT autonomous capability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254496"/>
            <a:ext cx="11247120" cy="384048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327648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Oracle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39" y="63276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30/30 episodes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6327648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Scripted upper bound — proves solvability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1 —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Research Use Cases &amp; Honest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What the benchmark measures · where it stops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577840" cy="4389120"/>
          </a:xfrm>
          <a:prstGeom prst="rect">
            <a:avLst/>
          </a:prstGeom>
          <a:solidFill>
            <a:srgbClr val="E6F6EF"/>
          </a:solidFill>
          <a:ln w="10160">
            <a:solidFill>
              <a:srgbClr val="1AB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070"/>
                </a:solidFill>
              </a:rPr>
              <a:t>✅  What this benchmark studies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•  Planning — multi-step reasoning across apps and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9191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•  Tool use — structured semantic action under partial 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63824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•  Coordination — one agent's output blocks another's subgoal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4845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•  Delegation — transferring work across roles at the correct moment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133087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•  Long-horizon reasoning — 8–17 subgoals, 25–45 step episodes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17720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•  Partial observability — asymmetric info across heterogeneous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0235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•  Credit assignment — shaped reward over dependency-gated DAG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86983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•  Error recovery — invalid action returns error; agent must adapt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91640"/>
            <a:ext cx="5577840" cy="4389120"/>
          </a:xfrm>
          <a:prstGeom prst="rect">
            <a:avLst/>
          </a:prstGeom>
          <a:solidFill>
            <a:srgbClr val="FFF8E8"/>
          </a:solidFill>
          <a:ln w="10160">
            <a:solidFill>
              <a:srgbClr val="FFA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7373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2A"/>
                </a:solidFill>
              </a:rPr>
              <a:t>⚠  Honest 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94560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•  Turn-based sequential — true parallel MARL needs action encoder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852928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•  PettingZoo AEC adapter is experimental, not fully tested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511296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•  Entity IDs fixed per task family (Factory V1) — not entity-disjoint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169664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•  Zero-shot measured on qwen2.5:3b only — model-dependent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828031"/>
            <a:ext cx="5212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•  No Figma, GitHub, or HR app simulators in this version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1 —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RL &amp; Research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Gymnasium-compatible · CTDE framing · evaluator state never exposed to 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303520" cy="2651760"/>
          </a:xfrm>
          <a:prstGeom prst="rect">
            <a:avLst/>
          </a:prstGeom>
          <a:solidFill>
            <a:srgbClr val="E6F0FF"/>
          </a:solidFill>
          <a:ln w="10160">
            <a:solidFill>
              <a:srgbClr val="2E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9CFF"/>
                </a:solidFill>
              </a:rPr>
              <a:t>Observation (per-agent, role-filtered)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76272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"agent":    {employee_id, name, role, team_id}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23744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"inbox":    [email headers]  — body requires read_email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71215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"channels": [channel records]  — own channels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18688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"calendar": [event records]  — own calendar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661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"sheets":   [{sheet_id, name, role}]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13631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"task":     {id, name, instruction}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691640"/>
            <a:ext cx="5852160" cy="1234440"/>
          </a:xfrm>
          <a:prstGeom prst="rect">
            <a:avLst/>
          </a:prstGeom>
          <a:solidFill>
            <a:srgbClr val="E6F6EF"/>
          </a:solidFill>
          <a:ln w="10160">
            <a:solidFill>
              <a:srgbClr val="1AB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373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B070"/>
                </a:solidFill>
              </a:rPr>
              <a:t>Action (structured semantic space)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148840"/>
            <a:ext cx="5623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Action(agent_id="pm_01", app="jira",
       action_type="change_status",
       parameters={"issue_id": "VEND-401", "status": "approved"})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063240"/>
            <a:ext cx="5852160" cy="1234440"/>
          </a:xfrm>
          <a:prstGeom prst="rect">
            <a:avLst/>
          </a:prstGeom>
          <a:solidFill>
            <a:srgbClr val="FFF0D8"/>
          </a:solidFill>
          <a:ln w="10160">
            <a:solidFill>
              <a:srgbClr val="FFA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31089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2A"/>
                </a:solidFill>
              </a:rPr>
              <a:t>Step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474720"/>
            <a:ext cx="5623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B3C"/>
                </a:solidFill>
              </a:rPr>
              <a:t>obs, reward, terminated, truncated, info = env.step(action)
info["eval"]  →  {progress, subgoals, reward_components}
               # evaluator-only — NOT shown to 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26280"/>
            <a:ext cx="11430000" cy="1325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572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9CFF"/>
                </a:solidFill>
              </a:rPr>
              <a:t>CTDE Framing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1091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F"/>
                </a:solidFill>
              </a:rPr>
              <a:t>Training centralises info["eval"] subgoal labels for critic conditioning.
Execution uses per-agent obs only — policies are fully decentralised.
18 action types across 5 apps. Each agent sees only their permitted subset (14–18 actions).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1 —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Research Questions Enabled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The 80-point gap between zero-shot (0/30) and hint-guided (24/30) is the open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1143000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3736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7373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173736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Benchmark 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1143000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19456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Can BC close 0% → 80%?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19456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Behavioral Cloning on oracle trajectories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19456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Trajectory export, deterministic seed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78608"/>
            <a:ext cx="11430000" cy="457200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67004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CTDE vs IQL?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267004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MAPPO vs IQL (shared vs independent critic)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67004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info["eval"]["subgoals"] labels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54096"/>
            <a:ext cx="1143000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14553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Does action masking help?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314553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PPO ± permission mask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314553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Static permission table per agent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29584"/>
            <a:ext cx="11430000" cy="457200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362102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Distractor density effect?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62102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RL across easy → adversarial presets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62102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4 difficulty levels, calibrated counts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005072"/>
            <a:ext cx="1143000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096511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Can policy generalise seeds?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096511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Train 0–999k, test 2M–3M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80" y="4096511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Disjoint seed-range splits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80560"/>
            <a:ext cx="11430000" cy="457200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5720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Shaped vs sparse reward?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57200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Ablate subgoal bonus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45720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Reward component breakdown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956048"/>
            <a:ext cx="1143000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04748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Offline RL near-oracle?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504748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IQL / CQL on oracle dataset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504748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export_dataset()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6035040"/>
            <a:ext cx="11430000" cy="5943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12648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9CFF"/>
                </a:solidFill>
              </a:rPr>
              <a:t>Next: Behavioral Cloning on hint-guided trajectories  →  PPO against shaped reward  →  entity-disjoint OOD evaluation via Factory V2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The Scenario Factory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8328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0D8FF"/>
                </a:solidFill>
              </a:rPr>
              <a:t>A handcrafted task is a demo.
A factory that mass-produces environments is a research instrument.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572000"/>
            <a:ext cx="4114800" cy="100584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4645152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ScenarioFactory V1
All 6 tasks — IMPLEMENTED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4572000"/>
            <a:ext cx="4114800" cy="1005840"/>
          </a:xfrm>
          <a:prstGeom prst="rect">
            <a:avLst/>
          </a:prstGeom>
          <a:solidFill>
            <a:srgbClr val="FF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4645152"/>
            <a:ext cx="3931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Factory V2 — entity-level
Vendor onboarding — PROTOTYPE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2 — THE SCENARIO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Why a Factory Is Necessary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RL training requires seed-disjoint episodes — 6 handcrafted tasks are not enough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9280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92807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Without Factory 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19" y="1892807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With Factory 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11247120" cy="621792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1401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3C"/>
                </a:solidFill>
              </a:rPr>
              <a:t>Training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1401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3E3E"/>
                </a:solidFill>
              </a:rPr>
              <a:t>Same 6 episodes every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414016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B070"/>
                </a:solidFill>
              </a:rPr>
              <a:t>1,000+ seed-disjoint episodes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44368"/>
            <a:ext cx="11247120" cy="621792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7238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3C"/>
                </a:solidFill>
              </a:rPr>
              <a:t>Generalization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07238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3E3E"/>
                </a:solidFill>
              </a:rPr>
              <a:t>Impossible — train =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072384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B070"/>
                </a:solidFill>
              </a:rPr>
              <a:t>Held-out seed spaces enforced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02736"/>
            <a:ext cx="11247120" cy="621792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7307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3C"/>
                </a:solidFill>
              </a:rPr>
              <a:t>Curriculum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73075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3E3E"/>
                </a:solidFill>
              </a:rPr>
              <a:t>Manual difficulty adjustment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730752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B070"/>
                </a:solidFill>
              </a:rPr>
              <a:t>easy → adversarial presets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261104"/>
            <a:ext cx="11247120" cy="621792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3891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3C"/>
                </a:solidFill>
              </a:rPr>
              <a:t>Reproducibility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438912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3E3E"/>
                </a:solidFill>
              </a:rPr>
              <a:t>Hope nothing changed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438912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B070"/>
                </a:solidFill>
              </a:rPr>
              <a:t>Same seed → identical episode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19472"/>
            <a:ext cx="11247120" cy="621792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50474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B3C"/>
                </a:solidFill>
              </a:rPr>
              <a:t>Scale-up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04748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3E3E"/>
                </a:solidFill>
              </a:rPr>
              <a:t>6 tasks maximum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504748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B070"/>
                </a:solidFill>
              </a:rPr>
              <a:t>Thousands of validated instances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2 — THE SCENARIO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ScenarioFactory V1 — Implemented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All 6 tasks · 4 difficulty presets · seed-disjoint splits · validated manifests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11247120" cy="502920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20040" cy="50292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</a:rPr>
              <a:t>build(task, seed, difficulty)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AD"/>
                </a:solidFill>
              </a:rPr>
              <a:t>Live, validated env in one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04288"/>
            <a:ext cx="11247120" cy="502920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304288"/>
            <a:ext cx="320040" cy="50292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957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395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</a:rPr>
              <a:t>4 difficulty presets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95728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AD"/>
                </a:solidFill>
              </a:rPr>
              <a:t>easy (2) / medium (6) / hard (15) / adversarial (30) distractors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71215"/>
            <a:ext cx="11247120" cy="502920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871215"/>
            <a:ext cx="320040" cy="50292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6265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9626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</a:rPr>
              <a:t>Realistic distractor pools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62656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AD"/>
                </a:solidFill>
              </a:rPr>
              <a:t>10 email subjects, 7 Jira tickets, 6 Slack messages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38144"/>
            <a:ext cx="11247120" cy="502920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438144"/>
            <a:ext cx="320040" cy="50292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52958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52958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</a:rPr>
              <a:t>Seed-disjoint splits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529584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AD"/>
                </a:solidFill>
              </a:rPr>
              <a:t>train: 0–999k  /  dev: 1M–2M  /  test: 2M–3M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005072"/>
            <a:ext cx="11247120" cy="502920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005072"/>
            <a:ext cx="320040" cy="50292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9651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096511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</a:rPr>
              <a:t>JSONL manifest export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096511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AD"/>
                </a:solidFill>
              </a:rPr>
              <a:t>scenario_id, seed, difficulty, apps, agents, subgoal_count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572000"/>
            <a:ext cx="11247120" cy="502920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572000"/>
            <a:ext cx="320040" cy="50292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6634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6634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</a:rPr>
              <a:t>Validation gates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663440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AD"/>
                </a:solidFill>
              </a:rPr>
              <a:t>Zero initial progress · acyclic DAG · dep IDs resolve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138927"/>
            <a:ext cx="11247120" cy="502920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5138927"/>
            <a:ext cx="320040" cy="50292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230367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23036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B3C"/>
                </a:solidFill>
              </a:rPr>
              <a:t>6 task families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230367"/>
            <a:ext cx="7223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BAD"/>
                </a:solidFill>
              </a:rPr>
              <a:t>Full DAG, verifier, oracle baseline for every task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5760720"/>
            <a:ext cx="11247120" cy="8686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80644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E8FF"/>
                </a:solidFill>
              </a:rPr>
              <a:t>factory = ScenarioFactory()
env, obs, info = factory.build("vendor_onboarding", seed=42, difficulty="hard")
# info["validator_status"] == "passed"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2 — THE SCENARIO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Factory V2 — Entity-Level World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Vertical slice proof-of-concept on vendor_onboarding · same pipeline designed to extend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394960" cy="4114800"/>
          </a:xfrm>
          <a:prstGeom prst="rect">
            <a:avLst/>
          </a:prstGeom>
          <a:solidFill>
            <a:srgbClr val="E6F0FF"/>
          </a:solidFill>
          <a:ln w="10160">
            <a:solidFill>
              <a:srgbClr val="2E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9CFF"/>
                </a:solidFill>
              </a:rPr>
              <a:t>Seed 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12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Company: Smart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883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Tickets: METR-401, METR-402, METR-403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638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Unique employee names + emails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39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sha256:841edac7c2667c37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902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B070"/>
                </a:solidFill>
              </a:rPr>
              <a:t>Oracle: ✓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5394960" cy="4114800"/>
          </a:xfrm>
          <a:prstGeom prst="rect">
            <a:avLst/>
          </a:prstGeom>
          <a:solidFill>
            <a:srgbClr val="E8F6EE"/>
          </a:solidFill>
          <a:ln w="1016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7373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9A"/>
                </a:solidFill>
              </a:rPr>
              <a:t>Seed 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128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Company: Stellar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883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Tickets: SERV-401, SERV-402, SERV-403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6382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Different employee names + emails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393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>sha256:cbebc420d7920829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148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B3C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5902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B070"/>
                </a:solidFill>
              </a:rPr>
              <a:t>Oracle: ✓ PASS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89320"/>
            <a:ext cx="112471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D8FF"/>
                </a:solidFill>
              </a:rPr>
              <a:t>Every generated world is oracle-verified at generation time. Same DAG structure, completely different operational context per seed.
CompanySpec → WorldGenerator (isolated RNG) → WorldValidator → GeneratedVendorOnboardingTask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2 — THE SCENARIO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Feature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Delivered · Experimental · Planned — clearly separated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3840480" cy="502920"/>
          </a:xfrm>
          <a:prstGeom prst="rect">
            <a:avLst/>
          </a:prstGeom>
          <a:solidFill>
            <a:srgbClr val="1A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013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IMPLEMENTED ✅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384048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50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6 tasks + DAG verifiers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79776"/>
            <a:ext cx="3840480" cy="457200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437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ScenarioFactory (all 6 tasks)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73552"/>
            <a:ext cx="384048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37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Oracle + hint-guided + zero-shot baselines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67328"/>
            <a:ext cx="3840480" cy="457200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31335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Deterministic DB-state verification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61104"/>
            <a:ext cx="384048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2511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Role-based permissions (RBAC)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54880"/>
            <a:ext cx="3840480" cy="457200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8188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Shaped reward + anti-hacking logic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48656"/>
            <a:ext cx="384048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1266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Trajectory export + replay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42432"/>
            <a:ext cx="3840480" cy="457200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5806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Streamlit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6236208"/>
            <a:ext cx="384048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30021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Docker Compose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737360"/>
            <a:ext cx="3840480" cy="502920"/>
          </a:xfrm>
          <a:prstGeom prst="rect">
            <a:avLst/>
          </a:prstGeom>
          <a:solidFill>
            <a:srgbClr val="FF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1801368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PROTOTYPE / EXPERIMENTAL 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2286000"/>
            <a:ext cx="384048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34840" y="23500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Factory V2 world generation (1 task)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2779776"/>
            <a:ext cx="3840480" cy="457200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284378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PettingZoo AEC adapter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273552"/>
            <a:ext cx="384048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3337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SHA-256 world fingerprinting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3767328"/>
            <a:ext cx="3840480" cy="457200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831335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WorldValidator structural checks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1737360"/>
            <a:ext cx="3749040" cy="502920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18013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ROADMAP 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2286000"/>
            <a:ext cx="374904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23500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Factory V2 for all 6 tasks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2779776"/>
            <a:ext cx="3749040" cy="457200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284378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DAG synthesizer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0" y="3273552"/>
            <a:ext cx="374904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33375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Org/identity generator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3767328"/>
            <a:ext cx="3749040" cy="457200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3831335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Automated verifier generation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4261104"/>
            <a:ext cx="3749040" cy="457200"/>
          </a:xfrm>
          <a:prstGeom prst="rect">
            <a:avLst/>
          </a:prstGeom>
          <a:solidFill>
            <a:srgbClr val="F7FAFC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60" y="43251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Entity-disjoint OOD splits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4754880"/>
            <a:ext cx="3749040" cy="457200"/>
          </a:xfrm>
          <a:prstGeom prst="rect">
            <a:avLst/>
          </a:prstGeom>
          <a:solidFill>
            <a:srgbClr val="EFF3F7"/>
          </a:solidFill>
          <a:ln w="381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48188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B3C"/>
                </a:solidFill>
              </a:rPr>
              <a:t>Large-scale curriculum calibration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6126480"/>
            <a:ext cx="114300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61996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9CFF"/>
                </a:solidFill>
              </a:rPr>
              <a:t>118 tests pass (70 environment + 48 factory_v2)  ·  0 failed  ·  0 flaky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SECTION 2 — THE SCENARIO FACTORY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2B3C"/>
                </a:solidFill>
              </a:rPr>
              <a:t>Difficulty, Curriculum &amp; Reproducibility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E9CFF"/>
                </a:solidFill>
              </a:rPr>
              <a:t>4 distractor presets · seed-disjoint splits · same seed = identical episode always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019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9019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Distractors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019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Effect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274320" cy="548640"/>
          </a:xfrm>
          <a:prstGeom prst="rect">
            <a:avLst/>
          </a:prstGeom>
          <a:solidFill>
            <a:srgbClr val="1AB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B070"/>
                </a:solidFill>
              </a:rPr>
              <a:t>easy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3957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B3C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3957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Minimal noise — near-direct 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80360"/>
            <a:ext cx="274320" cy="54864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99008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9CFF"/>
                </a:solidFill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299008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B3C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9900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Focused retrieval required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F7FAFC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474720"/>
            <a:ext cx="274320" cy="548640"/>
          </a:xfrm>
          <a:prstGeom prst="rect">
            <a:avLst/>
          </a:prstGeom>
          <a:solidFill>
            <a:srgbClr val="FFA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8444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2A"/>
                </a:solidFill>
              </a:rPr>
              <a:t>hard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35844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B3C"/>
                </a:solidFill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5844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Heavy noise — same domain, wrong details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EFF3F7"/>
          </a:solidFill>
          <a:ln w="508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069080"/>
            <a:ext cx="274320" cy="548640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1788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53E3E"/>
                </a:solidFill>
              </a:rPr>
              <a:t>adversarial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41788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2B3C"/>
                </a:solidFill>
              </a:rPr>
              <a:t>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41788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Near-miss keywords designed to mislead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1828800"/>
            <a:ext cx="3017520" cy="2377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8745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9CFF"/>
                </a:solidFill>
              </a:rPr>
              <a:t>Seed Splits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3317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AD"/>
                </a:solidFill>
              </a:rPr>
              <a:t>train: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23317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 – 999k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2834639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AD"/>
                </a:solidFill>
              </a:rPr>
              <a:t>dev: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9840" y="2834639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1M – 2M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33756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A9BAD"/>
                </a:solidFill>
              </a:rPr>
              <a:t>test: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33375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2M – 3M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800600"/>
            <a:ext cx="11247120" cy="960120"/>
          </a:xfrm>
          <a:prstGeom prst="rect">
            <a:avLst/>
          </a:prstGeom>
          <a:solidFill>
            <a:srgbClr val="E8F4FF"/>
          </a:solidFill>
          <a:ln w="10160">
            <a:solidFill>
              <a:srgbClr val="2E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846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python scripts/generate_dataset.py \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102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B3C"/>
                </a:solidFill>
              </a:rPr>
              <a:t>    --output generated_scenarios --train 1000 --dev 200 --test 500 --difficulty hard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376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BAD"/>
                </a:solidFill>
              </a:rPr>
              <a:t># Oracle = 100% at all difficulty levels  ·  Random = 0% at all difficulty levels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943600"/>
            <a:ext cx="11247120" cy="65836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9CFF"/>
                </a:solidFill>
              </a:rPr>
              <a:t>Disjoint seed ranges prevent episode reuse across train/dev/test. Same seed → identical episode, always — fully reproducible.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SECTION 2 — THE SCENARIO FACTORY  · 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The Open Research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2560320" cy="914400"/>
          </a:xfrm>
          <a:prstGeom prst="rect">
            <a:avLst/>
          </a:prstGeom>
          <a:solidFill>
            <a:srgbClr val="8A9B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3898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Zero-Shot 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 /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16459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9CFF"/>
                </a:solidFill>
              </a:rPr>
              <a:t>← 80-point gap 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2560320" cy="914400"/>
          </a:xfrm>
          <a:prstGeom prst="rect">
            <a:avLst/>
          </a:prstGeom>
          <a:solidFill>
            <a:srgbClr val="2E9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38988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Hint-Guided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916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24 / 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D8FF"/>
                </a:solidFill>
              </a:rPr>
              <a:t>Can autonomous multi-agent systems close the gap between
zero-shot performance (0/30) and procedurally-guided performance (24/30)
in realistic enterprise coordination workflows?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6 long-horizon multi-agent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873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5 apps · 5 agents · role-based permissions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1713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Dependency-gated subgoal DAGs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4690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Deterministic DB-state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7667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Oracle 30/30 · Hint-guided 24/30 · Zero-Shot 0/30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ScenarioFactory: seeds × difficulty × splits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873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Factory V2: entity-level world generation (prototype)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1713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118 automated tests · 0 flaky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946904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✅  Docker Compose reproducible deployment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943600"/>
            <a:ext cx="11247120" cy="6858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0533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9CFF"/>
                </a:solidFill>
              </a:rPr>
              <a:t>Next: Behavioral Cloning → PPO against shaped reward → entity-disjoint OOD eval via Factory V2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