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Enterprise Multi-Agent RL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B0D8FF"/>
                </a:solidFill>
              </a:rPr>
              <a:t>Can autonomous agents coordinate across applications, roles, and permissions
to complete realistic enterprise workflows?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383280"/>
            <a:ext cx="2103120" cy="1371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429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E9CFF"/>
                </a:solidFill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06908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A9BAD"/>
                </a:solidFill>
              </a:rPr>
              <a:t>Heterogeneous
Agents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3703320" y="3383280"/>
            <a:ext cx="2103120" cy="1371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3429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E9CFF"/>
                </a:solidFill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406908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A9BAD"/>
                </a:solidFill>
              </a:rPr>
              <a:t>Simulated
Apps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3383280"/>
            <a:ext cx="2103120" cy="1371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3429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E9CFF"/>
                </a:solidFill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406908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A9BAD"/>
                </a:solidFill>
              </a:rPr>
              <a:t>Dependency-
Gated Tasks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32520" y="3383280"/>
            <a:ext cx="2103120" cy="1371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32520" y="3429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E9CFF"/>
                </a:solidFill>
              </a:rPr>
              <a:t>118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406908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A9BAD"/>
                </a:solidFill>
              </a:rPr>
              <a:t>Automated
Tests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120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BAD"/>
                </a:solidFill>
              </a:rPr>
              <a:t>Shared SQLite State  ·  Deterministic Evaluator  ·  Fully Reproducible from Seed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629107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v1.3  | 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1: THE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Why Existing Benchmarks Miss Enterprise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Enterprise coordination demands all these dimensions simultaneously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19"/>
            <a:ext cx="2743200" cy="512064"/>
          </a:xfrm>
          <a:prstGeom prst="rect">
            <a:avLst/>
          </a:prstGeom>
          <a:solidFill>
            <a:srgbClr val="3A5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84248"/>
            <a:ext cx="256032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Dimension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874519"/>
            <a:ext cx="3474720" cy="512064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984248"/>
            <a:ext cx="3291839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Typical Benchmark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0" y="1874519"/>
            <a:ext cx="4114800" cy="512064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0" y="1984248"/>
            <a:ext cx="393192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This Benchmark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386584"/>
            <a:ext cx="2743200" cy="512064"/>
          </a:xfrm>
          <a:prstGeom prst="rect">
            <a:avLst/>
          </a:prstGeom>
          <a:solidFill>
            <a:srgbClr val="F7FAFC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78024"/>
            <a:ext cx="25237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Agents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2386584"/>
            <a:ext cx="3474720" cy="512064"/>
          </a:xfrm>
          <a:prstGeom prst="rect">
            <a:avLst/>
          </a:prstGeom>
          <a:solidFill>
            <a:srgbClr val="E8ECF0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93008" y="2478024"/>
            <a:ext cx="3255263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A6A6A"/>
                </a:solidFill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880" y="2386584"/>
            <a:ext cx="4114800" cy="512064"/>
          </a:xfrm>
          <a:prstGeom prst="rect">
            <a:avLst/>
          </a:prstGeom>
          <a:solidFill>
            <a:srgbClr val="E6F6EF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50608" y="2478024"/>
            <a:ext cx="38953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6A42"/>
                </a:solidFill>
              </a:rPr>
              <a:t>5, heterogeneous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98648"/>
            <a:ext cx="2743200" cy="512064"/>
          </a:xfrm>
          <a:prstGeom prst="rect">
            <a:avLst/>
          </a:prstGeom>
          <a:solidFill>
            <a:srgbClr val="F7FAFC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990088"/>
            <a:ext cx="25237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Apps / state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2898648"/>
            <a:ext cx="3474720" cy="512064"/>
          </a:xfrm>
          <a:prstGeom prst="rect">
            <a:avLst/>
          </a:prstGeom>
          <a:solidFill>
            <a:srgbClr val="E8ECF0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93008" y="2990088"/>
            <a:ext cx="3255263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A6A6A"/>
                </a:solidFill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2898648"/>
            <a:ext cx="4114800" cy="512064"/>
          </a:xfrm>
          <a:prstGeom prst="rect">
            <a:avLst/>
          </a:prstGeom>
          <a:solidFill>
            <a:srgbClr val="E6F6EF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8" y="2990088"/>
            <a:ext cx="38953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6A42"/>
                </a:solidFill>
              </a:rPr>
              <a:t>5, shared persistent DB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10712"/>
            <a:ext cx="2743200" cy="512064"/>
          </a:xfrm>
          <a:prstGeom prst="rect">
            <a:avLst/>
          </a:prstGeom>
          <a:solidFill>
            <a:srgbClr val="F7FAFC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3502152"/>
            <a:ext cx="25237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Permissions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83280" y="3410712"/>
            <a:ext cx="3474720" cy="512064"/>
          </a:xfrm>
          <a:prstGeom prst="rect">
            <a:avLst/>
          </a:prstGeom>
          <a:solidFill>
            <a:srgbClr val="E8ECF0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93008" y="3502152"/>
            <a:ext cx="3255263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A6A6A"/>
                </a:solidFill>
              </a:rPr>
              <a:t>None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3410712"/>
            <a:ext cx="4114800" cy="512064"/>
          </a:xfrm>
          <a:prstGeom prst="rect">
            <a:avLst/>
          </a:prstGeom>
          <a:solidFill>
            <a:srgbClr val="E6F6EF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50608" y="3502152"/>
            <a:ext cx="38953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6A42"/>
                </a:solidFill>
              </a:rPr>
              <a:t>Per-role x per-app x per-sheet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922776"/>
            <a:ext cx="2743200" cy="512064"/>
          </a:xfrm>
          <a:prstGeom prst="rect">
            <a:avLst/>
          </a:prstGeom>
          <a:solidFill>
            <a:srgbClr val="F7FAFC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4014215"/>
            <a:ext cx="25237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Horizon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83280" y="3922776"/>
            <a:ext cx="3474720" cy="512064"/>
          </a:xfrm>
          <a:prstGeom prst="rect">
            <a:avLst/>
          </a:prstGeom>
          <a:solidFill>
            <a:srgbClr val="E8ECF0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93008" y="4014215"/>
            <a:ext cx="3255263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A6A6A"/>
                </a:solidFill>
              </a:rPr>
              <a:t>1-5 steps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40880" y="3922776"/>
            <a:ext cx="4114800" cy="512064"/>
          </a:xfrm>
          <a:prstGeom prst="rect">
            <a:avLst/>
          </a:prstGeom>
          <a:solidFill>
            <a:srgbClr val="E6F6EF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50608" y="4014215"/>
            <a:ext cx="38953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6A42"/>
                </a:solidFill>
              </a:rPr>
              <a:t>8-17 subgoals, 25-45 steps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434840"/>
            <a:ext cx="2743200" cy="512064"/>
          </a:xfrm>
          <a:prstGeom prst="rect">
            <a:avLst/>
          </a:prstGeom>
          <a:solidFill>
            <a:srgbClr val="F7FAFC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4526279"/>
            <a:ext cx="25237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Dependencies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83280" y="4434840"/>
            <a:ext cx="3474720" cy="512064"/>
          </a:xfrm>
          <a:prstGeom prst="rect">
            <a:avLst/>
          </a:prstGeom>
          <a:solidFill>
            <a:srgbClr val="E8ECF0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93008" y="4526279"/>
            <a:ext cx="3255263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A6A6A"/>
                </a:solidFill>
              </a:rPr>
              <a:t>None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040880" y="4434840"/>
            <a:ext cx="4114800" cy="512064"/>
          </a:xfrm>
          <a:prstGeom prst="rect">
            <a:avLst/>
          </a:prstGeom>
          <a:solidFill>
            <a:srgbClr val="E6F6EF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50608" y="4526279"/>
            <a:ext cx="38953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6A42"/>
                </a:solidFill>
              </a:rPr>
              <a:t>Gated DAG: later credit blocked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4946904"/>
            <a:ext cx="2743200" cy="512064"/>
          </a:xfrm>
          <a:prstGeom prst="rect">
            <a:avLst/>
          </a:prstGeom>
          <a:solidFill>
            <a:srgbClr val="F7FAFC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5038344"/>
            <a:ext cx="25237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Information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383280" y="4946904"/>
            <a:ext cx="3474720" cy="512064"/>
          </a:xfrm>
          <a:prstGeom prst="rect">
            <a:avLst/>
          </a:prstGeom>
          <a:solidFill>
            <a:srgbClr val="E8ECF0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93008" y="5038344"/>
            <a:ext cx="3255263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A6A6A"/>
                </a:solidFill>
              </a:rPr>
              <a:t>Symmetric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040880" y="4946904"/>
            <a:ext cx="4114800" cy="512064"/>
          </a:xfrm>
          <a:prstGeom prst="rect">
            <a:avLst/>
          </a:prstGeom>
          <a:solidFill>
            <a:srgbClr val="E6F6EF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50608" y="5038344"/>
            <a:ext cx="38953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6A42"/>
                </a:solidFill>
              </a:rPr>
              <a:t>Asymmetric per-agent observations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5458968"/>
            <a:ext cx="2743200" cy="512064"/>
          </a:xfrm>
          <a:prstGeom prst="rect">
            <a:avLst/>
          </a:prstGeom>
          <a:solidFill>
            <a:srgbClr val="F7FAFC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550408"/>
            <a:ext cx="25237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Evaluation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83280" y="5458968"/>
            <a:ext cx="3474720" cy="512064"/>
          </a:xfrm>
          <a:prstGeom prst="rect">
            <a:avLst/>
          </a:prstGeom>
          <a:solidFill>
            <a:srgbClr val="E8ECF0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93008" y="5550408"/>
            <a:ext cx="3255263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A6A6A"/>
                </a:solidFill>
              </a:rPr>
              <a:t>String match / LLM judge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040880" y="5458968"/>
            <a:ext cx="4114800" cy="512064"/>
          </a:xfrm>
          <a:prstGeom prst="rect">
            <a:avLst/>
          </a:prstGeom>
          <a:solidFill>
            <a:srgbClr val="E6F6EF"/>
          </a:solidFill>
          <a:ln w="635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50608" y="5550408"/>
            <a:ext cx="38953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6A42"/>
                </a:solidFill>
              </a:rPr>
              <a:t>Deterministic DB state check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5897880"/>
            <a:ext cx="11274552" cy="457200"/>
          </a:xfrm>
          <a:prstGeom prst="rect">
            <a:avLst/>
          </a:prstGeom>
          <a:solidFill>
            <a:srgbClr val="0D4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" y="59436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Design thesis: a single evaluation environment that combines all of these dimensions simultaneously.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1: THE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Environment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One synthetic company · five app simulators · one shared database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1691640"/>
            <a:ext cx="1645920" cy="64008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7373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Gmail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0" y="1691640"/>
            <a:ext cx="1645920" cy="640080"/>
          </a:xfrm>
          <a:prstGeom prst="rect">
            <a:avLst/>
          </a:prstGeom>
          <a:solidFill>
            <a:srgbClr val="4A1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17373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Slack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691640"/>
            <a:ext cx="1645920" cy="640080"/>
          </a:xfrm>
          <a:prstGeom prst="rect">
            <a:avLst/>
          </a:prstGeom>
          <a:solidFill>
            <a:srgbClr val="00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17373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Jira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86599" y="1691640"/>
            <a:ext cx="1645920" cy="64008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599" y="17373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Calendar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691640"/>
            <a:ext cx="1645920" cy="64008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0" y="17373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Sheets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3957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E9CFF"/>
                </a:solidFill>
              </a:rPr>
              <a:t>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2788920"/>
            <a:ext cx="5760720" cy="6400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0" y="283464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E9CFF"/>
                </a:solidFill>
              </a:rPr>
              <a:t>SQLite: Shared Company 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657600"/>
            <a:ext cx="4114800" cy="100584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7033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2B3C"/>
                </a:solidFill>
              </a:rPr>
              <a:t>Agent Observations
(role-filtered per agent)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0" y="3657600"/>
            <a:ext cx="4114800" cy="100584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0" y="37033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2B3C"/>
                </a:solidFill>
              </a:rPr>
              <a:t>Deterministic Evaluator
(private, state-based)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8463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•  Every episode resets from a deterministic integer seed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19379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•  Evaluator state is NOT visible to agents - info["eval"] is separate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541264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•  Semantic tool actions: malformed calls are invalid transitions, not crashes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888736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•  An agent cannot succeed by claiming 'task complete' in Slack - the DB must match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1: THE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Gymnasium-compatible RL interface with semantic action dispatch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1691640"/>
            <a:ext cx="9418320" cy="658368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17373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Policy / Controller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76479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E0FF"/>
                </a:solidFill>
              </a:rPr>
              <a:t>Issues Action(agent, app, action_type, params)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350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E9CFF"/>
                </a:solidFill>
              </a:rPr>
              <a:t>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560320"/>
            <a:ext cx="9418320" cy="658368"/>
          </a:xfrm>
          <a:prstGeom prst="rect">
            <a:avLst/>
          </a:prstGeom>
          <a:solidFill>
            <a:srgbClr val="1A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260603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EnterpriseEnv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63347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E0FF"/>
                </a:solidFill>
              </a:rPr>
              <a:t>Role-filtered obs · Action validator · Reward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218687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E9CFF"/>
                </a:solidFill>
              </a:rPr>
              <a:t>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3429000"/>
            <a:ext cx="9418320" cy="658368"/>
          </a:xfrm>
          <a:prstGeom prst="rect">
            <a:avLst/>
          </a:prstGeom>
          <a:solidFill>
            <a:srgbClr val="0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34747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App Simulators (thin, stateless)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50215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E0FF"/>
                </a:solidFill>
              </a:rPr>
              <a:t>Pure DB reads/writes: Gmail · Slack · Jira · Calendar · Sheets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40873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E9CFF"/>
                </a:solidFill>
              </a:rPr>
              <a:t>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0" y="4297679"/>
            <a:ext cx="9418320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54480" y="434339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SQLite Shared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4370831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E0FF"/>
                </a:solidFill>
              </a:rPr>
              <a:t>Single source of truth across all apps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4956047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E9CFF"/>
                </a:solidFill>
              </a:rPr>
              <a:t>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5166360"/>
            <a:ext cx="9418320" cy="658368"/>
          </a:xfrm>
          <a:prstGeom prst="rect">
            <a:avLst/>
          </a:prstGeom>
          <a:solidFill>
            <a:srgbClr val="6A2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54480" y="52120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Private Verifier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523951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E0FF"/>
                </a:solidFill>
              </a:rPr>
              <a:t>DAG + subgoal checks → reward + info["eval"]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98932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BAD"/>
                </a:solidFill>
              </a:rPr>
              <a:t>•  Execution: turn-based, actor-selected sequential (not truly parallel)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254496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BAD"/>
                </a:solidFill>
              </a:rPr>
              <a:t>•  RL interface: Gymnasium-compatible  reset(seed) / step(action) / close()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51967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A9BAD"/>
                </a:solidFill>
              </a:rPr>
              <a:t>•  PettingZoo AEC adapter available - EXPERIMENTAL (not fully tested)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1: THE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Multi-Agent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Five agents · different roles · different app access · different information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828800"/>
            <a:ext cx="1417320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828800"/>
            <a:ext cx="1371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1828800"/>
            <a:ext cx="2240280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74519" y="1828800"/>
            <a:ext cx="21945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Role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0" y="1828800"/>
            <a:ext cx="822959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1828800"/>
            <a:ext cx="7772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Gmail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3480" y="1828800"/>
            <a:ext cx="822959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828800"/>
            <a:ext cx="7772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Slack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1828800"/>
            <a:ext cx="731519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97880" y="1828800"/>
            <a:ext cx="6858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Jira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0" y="1828800"/>
            <a:ext cx="960120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1828800"/>
            <a:ext cx="914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Calendar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1828800"/>
            <a:ext cx="1261872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1828800"/>
            <a:ext cx="1216151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Sheets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487168"/>
            <a:ext cx="1417320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2487168"/>
            <a:ext cx="1371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1A5CFF"/>
                </a:solidFill>
              </a:rPr>
              <a:t>pm_01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0" y="2487168"/>
            <a:ext cx="2240280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74519" y="2487168"/>
            <a:ext cx="21945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2B3C"/>
                </a:solidFill>
              </a:rPr>
              <a:t>Project Manager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2487168"/>
            <a:ext cx="822959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60520" y="2487168"/>
            <a:ext cx="7772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83480" y="2487168"/>
            <a:ext cx="822959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0" y="2487168"/>
            <a:ext cx="7772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52160" y="2487168"/>
            <a:ext cx="731519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97880" y="2487168"/>
            <a:ext cx="6858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29400" y="2487168"/>
            <a:ext cx="960120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75120" y="2487168"/>
            <a:ext cx="914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35240" y="2487168"/>
            <a:ext cx="1261872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0" y="2487168"/>
            <a:ext cx="1216151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2B3C"/>
                </a:solidFill>
              </a:rPr>
              <a:t>Owner R/W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145536"/>
            <a:ext cx="1417320" cy="658368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3145536"/>
            <a:ext cx="1371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1AB070"/>
                </a:solidFill>
              </a:rPr>
              <a:t>eng_01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28800" y="3145536"/>
            <a:ext cx="2240280" cy="658368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874519" y="3145536"/>
            <a:ext cx="21945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2B3C"/>
                </a:solidFill>
              </a:rPr>
              <a:t>Engineer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3145536"/>
            <a:ext cx="822959" cy="658368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60520" y="3145536"/>
            <a:ext cx="7772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8A9BAD"/>
                </a:solidFill>
              </a:rPr>
              <a:t>-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83480" y="3145536"/>
            <a:ext cx="822959" cy="658368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3145536"/>
            <a:ext cx="7772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52160" y="3145536"/>
            <a:ext cx="731519" cy="658368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97880" y="3145536"/>
            <a:ext cx="6858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29400" y="3145536"/>
            <a:ext cx="960120" cy="658368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0" y="3145536"/>
            <a:ext cx="914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635240" y="3145536"/>
            <a:ext cx="1261872" cy="658368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80960" y="3145536"/>
            <a:ext cx="1216151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2B3C"/>
                </a:solidFill>
              </a:rPr>
              <a:t>Viewer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3803904"/>
            <a:ext cx="1417320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803904"/>
            <a:ext cx="1371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8C1A"/>
                </a:solidFill>
              </a:rPr>
              <a:t>product_01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28800" y="3803904"/>
            <a:ext cx="2240280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874519" y="3803904"/>
            <a:ext cx="21945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2B3C"/>
                </a:solidFill>
              </a:rPr>
              <a:t>Product Manager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0" y="3803904"/>
            <a:ext cx="822959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60520" y="3803904"/>
            <a:ext cx="7772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8A9BAD"/>
                </a:solidFill>
              </a:rPr>
              <a:t>-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983480" y="3803904"/>
            <a:ext cx="822959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29200" y="3803904"/>
            <a:ext cx="7772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52160" y="3803904"/>
            <a:ext cx="731519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97880" y="3803904"/>
            <a:ext cx="6858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29400" y="3803904"/>
            <a:ext cx="960120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675120" y="3803904"/>
            <a:ext cx="914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8A9BAD"/>
                </a:solidFill>
              </a:rPr>
              <a:t>-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635240" y="3803904"/>
            <a:ext cx="1261872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680960" y="3803904"/>
            <a:ext cx="1216151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2B3C"/>
                </a:solidFill>
              </a:rPr>
              <a:t>Editor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4462272"/>
            <a:ext cx="1417320" cy="658368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4462272"/>
            <a:ext cx="1371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E53E3E"/>
                </a:solidFill>
              </a:rPr>
              <a:t>mgr_01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828800" y="4462272"/>
            <a:ext cx="2240280" cy="658368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874519" y="4462272"/>
            <a:ext cx="21945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2B3C"/>
                </a:solidFill>
              </a:rPr>
              <a:t>Eng. Manager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14800" y="4462272"/>
            <a:ext cx="822959" cy="658368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60520" y="4462272"/>
            <a:ext cx="7772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8A9BAD"/>
                </a:solidFill>
              </a:rPr>
              <a:t>-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983480" y="4462272"/>
            <a:ext cx="822959" cy="658368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29200" y="4462272"/>
            <a:ext cx="7772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852160" y="4462272"/>
            <a:ext cx="731519" cy="658368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897880" y="4462272"/>
            <a:ext cx="6858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629400" y="4462272"/>
            <a:ext cx="960120" cy="658368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675120" y="4462272"/>
            <a:ext cx="914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635240" y="4462272"/>
            <a:ext cx="1261872" cy="658368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680960" y="4462272"/>
            <a:ext cx="1216151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8A9BAD"/>
                </a:solidFill>
              </a:rPr>
              <a:t>-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5760" y="5120640"/>
            <a:ext cx="1417320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1480" y="5120640"/>
            <a:ext cx="1371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8A4ACC"/>
                </a:solidFill>
              </a:rPr>
              <a:t>cs_01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828800" y="5120640"/>
            <a:ext cx="2240280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874519" y="5120640"/>
            <a:ext cx="21945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2B3C"/>
                </a:solidFill>
              </a:rPr>
              <a:t>Customer Success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114800" y="5120640"/>
            <a:ext cx="822959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160520" y="5120640"/>
            <a:ext cx="7772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983480" y="5120640"/>
            <a:ext cx="822959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029200" y="5120640"/>
            <a:ext cx="7772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852160" y="5120640"/>
            <a:ext cx="731519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897880" y="5120640"/>
            <a:ext cx="6858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AB070"/>
                </a:solidFill>
              </a:rPr>
              <a:t>Yes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629400" y="5120640"/>
            <a:ext cx="960120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675120" y="5120640"/>
            <a:ext cx="914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8A9BAD"/>
                </a:solidFill>
              </a:rPr>
              <a:t>-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635240" y="5120640"/>
            <a:ext cx="1261872" cy="658368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680960" y="5120640"/>
            <a:ext cx="1216151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8A9BAD"/>
                </a:solidFill>
              </a:rPr>
              <a:t>-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57200" y="608076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Who can act: per-agent tool whitelist enforced on every call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What each agent sees: only their own inbox, accessible channels, permitted sheets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1: THE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Long-Horizon Task: Vendor Onboarding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8 subgoals · 40-step horizon · 5 apps · 4 roles must act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502920"/>
          </a:xfrm>
          <a:prstGeom prst="rect">
            <a:avLst/>
          </a:prstGeom>
          <a:solidFill>
            <a:srgbClr val="1A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pm_01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1691640"/>
            <a:ext cx="7589520" cy="502920"/>
          </a:xfrm>
          <a:prstGeom prst="rect">
            <a:avLst/>
          </a:prstGeom>
          <a:solidFill>
            <a:srgbClr val="F7FAFC"/>
          </a:solidFill>
          <a:ln w="635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03120" y="178308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Discover vendor email + find procurement ticket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1691640"/>
            <a:ext cx="2011680" cy="50292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38360" y="178308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9CFF"/>
                </a:solidFill>
              </a:rPr>
              <a:t>Gmail → Jira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313432"/>
            <a:ext cx="1371600" cy="502920"/>
          </a:xfrm>
          <a:prstGeom prst="rect">
            <a:avLst/>
          </a:prstGeom>
          <a:solidFill>
            <a:srgbClr val="FF8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40487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product_01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65960" y="2313432"/>
            <a:ext cx="7589520" cy="502920"/>
          </a:xfrm>
          <a:prstGeom prst="rect">
            <a:avLst/>
          </a:prstGeom>
          <a:solidFill>
            <a:srgbClr val="F7FAFC"/>
          </a:solidFill>
          <a:ln w="635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03120" y="2404872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Clear legal contract ticket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2313432"/>
            <a:ext cx="2011680" cy="50292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240487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9CFF"/>
                </a:solidFill>
              </a:rPr>
              <a:t>Jira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83464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A9BAD"/>
                </a:solidFill>
              </a:rPr>
              <a:t>parallel branch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935224"/>
            <a:ext cx="1371600" cy="502920"/>
          </a:xfrm>
          <a:prstGeom prst="rect">
            <a:avLst/>
          </a:prstGeom>
          <a:solidFill>
            <a:srgbClr val="1A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02666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eng_01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65960" y="2935224"/>
            <a:ext cx="7589520" cy="502920"/>
          </a:xfrm>
          <a:prstGeom prst="rect">
            <a:avLst/>
          </a:prstGeom>
          <a:solidFill>
            <a:srgbClr val="F7FAFC"/>
          </a:solidFill>
          <a:ln w="635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0" y="3026664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Confirm IT provisioning ticket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92640" y="2935224"/>
            <a:ext cx="2011680" cy="50292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38360" y="30266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9CFF"/>
                </a:solidFill>
              </a:rPr>
              <a:t>Jira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4564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A9BAD"/>
                </a:solidFill>
              </a:rPr>
              <a:t>parallel branch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557016"/>
            <a:ext cx="1371600" cy="502920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64845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mgr_01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65960" y="3557016"/>
            <a:ext cx="7589520" cy="502920"/>
          </a:xfrm>
          <a:prstGeom prst="rect">
            <a:avLst/>
          </a:prstGeom>
          <a:solidFill>
            <a:srgbClr val="F7FAFC"/>
          </a:solidFill>
          <a:ln w="635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03120" y="3648456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Approve procurement ticket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3557016"/>
            <a:ext cx="2011680" cy="50292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38360" y="364845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9CFF"/>
                </a:solidFill>
              </a:rPr>
              <a:t>Jira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178808"/>
            <a:ext cx="1371600" cy="502920"/>
          </a:xfrm>
          <a:prstGeom prst="rect">
            <a:avLst/>
          </a:prstGeom>
          <a:solidFill>
            <a:srgbClr val="1A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27024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pm_01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65960" y="4178808"/>
            <a:ext cx="7589520" cy="502920"/>
          </a:xfrm>
          <a:prstGeom prst="rect">
            <a:avLst/>
          </a:prstGeom>
          <a:solidFill>
            <a:srgbClr val="F7FAFC"/>
          </a:solidFill>
          <a:ln w="635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103120" y="427024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Mark vendor ACTIVE in tracker sheet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692640" y="4178808"/>
            <a:ext cx="2011680" cy="50292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38360" y="427024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9CFF"/>
                </a:solidFill>
              </a:rPr>
              <a:t>Sheets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800600"/>
            <a:ext cx="1371600" cy="502920"/>
          </a:xfrm>
          <a:prstGeom prst="rect">
            <a:avLst/>
          </a:prstGeom>
          <a:solidFill>
            <a:srgbClr val="1A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489204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pm_01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65960" y="4800600"/>
            <a:ext cx="7589520" cy="502920"/>
          </a:xfrm>
          <a:prstGeom prst="rect">
            <a:avLst/>
          </a:prstGeom>
          <a:solidFill>
            <a:srgbClr val="F7FAFC"/>
          </a:solidFill>
          <a:ln w="635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103120" y="489204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Schedule kickoff meeting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92640" y="4800600"/>
            <a:ext cx="2011680" cy="50292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38360" y="489204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9CFF"/>
                </a:solidFill>
              </a:rPr>
              <a:t>Calendar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5422392"/>
            <a:ext cx="1371600" cy="502920"/>
          </a:xfrm>
          <a:prstGeom prst="rect">
            <a:avLst/>
          </a:prstGeom>
          <a:solidFill>
            <a:srgbClr val="1A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513831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pm_01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65960" y="5422392"/>
            <a:ext cx="7589520" cy="502920"/>
          </a:xfrm>
          <a:prstGeom prst="rect">
            <a:avLst/>
          </a:prstGeom>
          <a:solidFill>
            <a:srgbClr val="F7FAFC"/>
          </a:solidFill>
          <a:ln w="6350">
            <a:solidFill>
              <a:srgbClr val="C8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103120" y="5513831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Announce completion in Slack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92640" y="5422392"/>
            <a:ext cx="2011680" cy="50292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738360" y="5513831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9CFF"/>
                </a:solidFill>
              </a:rPr>
              <a:t>Slack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6309360"/>
            <a:ext cx="2743200" cy="329184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0352" y="6345936"/>
            <a:ext cx="259689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Parallel branches (legal + IT)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83280" y="6309360"/>
            <a:ext cx="2743200" cy="329184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456432" y="6345936"/>
            <a:ext cx="259689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Strict RBAC on sheet write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09360" y="6309360"/>
            <a:ext cx="2743200" cy="329184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82512" y="6345936"/>
            <a:ext cx="259689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Negation-hardened verification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235440" y="6309360"/>
            <a:ext cx="2743200" cy="329184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08592" y="6345936"/>
            <a:ext cx="259689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Role separation + info asymmetry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1: THE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Task Dependency DAG: Vendor Onboarding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Credit fires when DB state matches the predicate, not when an agent says so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08760"/>
            <a:ext cx="2743200" cy="594360"/>
          </a:xfrm>
          <a:prstGeom prst="rect">
            <a:avLst/>
          </a:prstGeom>
          <a:solidFill>
            <a:srgbClr val="1A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154533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discover_request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81051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D8FF"/>
                </a:solidFill>
              </a:rPr>
              <a:t>pm_01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2331720"/>
            <a:ext cx="2743200" cy="594360"/>
          </a:xfrm>
          <a:prstGeom prst="rect">
            <a:avLst/>
          </a:prstGeom>
          <a:solidFill>
            <a:srgbClr val="1A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236829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find_main_ticket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63347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D8FF"/>
                </a:solidFill>
              </a:rPr>
              <a:t>pm_01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200400"/>
            <a:ext cx="2743200" cy="594360"/>
          </a:xfrm>
          <a:prstGeom prst="rect">
            <a:avLst/>
          </a:prstGeom>
          <a:solidFill>
            <a:srgbClr val="FF8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23697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legal_review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50215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D8FF"/>
                </a:solidFill>
              </a:rPr>
              <a:t>product_01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0" y="3200400"/>
            <a:ext cx="2743200" cy="594360"/>
          </a:xfrm>
          <a:prstGeom prst="rect">
            <a:avLst/>
          </a:prstGeom>
          <a:solidFill>
            <a:srgbClr val="1A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0" y="323697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it_provisioning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350215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D8FF"/>
                </a:solidFill>
              </a:rPr>
              <a:t>eng_01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4069080"/>
            <a:ext cx="2743200" cy="594360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1840" y="410565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manager_approval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37083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D8FF"/>
                </a:solidFill>
              </a:rPr>
              <a:t>mgr_01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0" y="4937760"/>
            <a:ext cx="2743200" cy="594360"/>
          </a:xfrm>
          <a:prstGeom prst="rect">
            <a:avLst/>
          </a:prstGeom>
          <a:solidFill>
            <a:srgbClr val="1A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0" y="497433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update_vendor_sheet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523951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D8FF"/>
                </a:solidFill>
              </a:rPr>
              <a:t>pm_01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5806440"/>
            <a:ext cx="2743200" cy="594360"/>
          </a:xfrm>
          <a:prstGeom prst="rect">
            <a:avLst/>
          </a:prstGeom>
          <a:solidFill>
            <a:srgbClr val="1A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843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schedule_kickoff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61081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D8FF"/>
                </a:solidFill>
              </a:rPr>
              <a:t>pm_01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0" y="5806440"/>
            <a:ext cx="2743200" cy="594360"/>
          </a:xfrm>
          <a:prstGeom prst="rect">
            <a:avLst/>
          </a:prstGeom>
          <a:solidFill>
            <a:srgbClr val="1A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77840" y="5843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announce_live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61081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D8FF"/>
                </a:solidFill>
              </a:rPr>
              <a:t>pm_01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1031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E9CFF"/>
                </a:solidFill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29718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E9CFF"/>
                </a:solidFill>
              </a:rPr>
              <a:t>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38404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E9CFF"/>
                </a:solidFill>
              </a:rPr>
              <a:t>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47091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E9CFF"/>
                </a:solidFill>
              </a:rPr>
              <a:t>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86000" y="38404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E9CFF"/>
                </a:solidFill>
              </a:rPr>
              <a:t>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38404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E9CFF"/>
                </a:solidFill>
              </a:rPr>
              <a:t>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86000" y="55778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E9CFF"/>
                </a:solidFill>
              </a:rPr>
              <a:t>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55778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E9CFF"/>
                </a:solidFill>
              </a:rPr>
              <a:t>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2560320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•  Subgoals are locked until all prerequisites complete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3063239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•  Parallel branches (legal + IT) both required before schedule_kickoff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3566160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•  Verifier is negation-hardened: "NOT provisioned" fails · "Provisioned and confirmed" passes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1: THE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Partial Observability &amp; Permissions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Agents must search and discover - ticket IDs are never pre-known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5029200" cy="3474720"/>
          </a:xfrm>
          <a:prstGeom prst="rect">
            <a:avLst/>
          </a:prstGeom>
          <a:solidFill>
            <a:srgbClr val="E6F0FF"/>
          </a:solidFill>
          <a:ln w="12700">
            <a:solidFill>
              <a:srgbClr val="2E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9CFF"/>
                </a:solidFill>
              </a:rPr>
              <a:t>What each agent CAN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59152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B070"/>
                </a:solidFill>
              </a:rPr>
              <a:t>Yes  Own email inbox headers (body requires read_email)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89504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B070"/>
                </a:solidFill>
              </a:rPr>
              <a:t>Yes  Slack channels they belong 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19856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B070"/>
                </a:solidFill>
              </a:rPr>
              <a:t>Yes  Jira tickets returned by their own search query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5020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B070"/>
                </a:solidFill>
              </a:rPr>
              <a:t>Yes  Own calendar events only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1828800"/>
            <a:ext cx="5029200" cy="3474720"/>
          </a:xfrm>
          <a:prstGeom prst="rect">
            <a:avLst/>
          </a:prstGeom>
          <a:solidFill>
            <a:srgbClr val="FFF0E8"/>
          </a:solidFill>
          <a:ln w="12700">
            <a:solidFill>
              <a:srgbClr val="E5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187451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53E3E"/>
                </a:solidFill>
              </a:rPr>
              <a:t>What NO agent can see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2359152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3E3E"/>
                </a:solidFill>
              </a:rPr>
              <a:t>No   Other agents' inboxes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2889504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3E3E"/>
                </a:solidFill>
              </a:rPr>
              <a:t>No   Verifier progress or subgoal status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3419856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3E3E"/>
                </a:solidFill>
              </a:rPr>
              <a:t>No   Full Jira database (search required)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395020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3E3E"/>
                </a:solidFill>
              </a:rPr>
              <a:t>No   Sheet cells outside membership role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32704" y="2194560"/>
            <a:ext cx="914400" cy="2743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0" y="329184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2B3C"/>
                </a:solidFill>
              </a:rPr>
              <a:t>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577840"/>
            <a:ext cx="11247120" cy="7315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9CFF"/>
                </a:solidFill>
              </a:rPr>
              <a:t>Wrong permission → {"success": false, "message": "Permission denied"} - not silent failure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1: THE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Reward Design &amp; Deterministic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Shaped signal across subgoal DAG · terminal success · anti-hacking penalties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11247120" cy="4572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019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190195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1901952"/>
            <a:ext cx="6675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86000"/>
            <a:ext cx="11247120" cy="448056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368296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Valid tool 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368296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B070"/>
                </a:solidFill>
              </a:rPr>
              <a:t>+0.25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2368296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Execution credit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61488"/>
            <a:ext cx="11247120" cy="448056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843784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Subgoal unlocked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2843784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9CFF"/>
                </a:solidFill>
              </a:rPr>
              <a:t>+8x(1/N)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843784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Shaped, per new subgoal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236976"/>
            <a:ext cx="11247120" cy="448056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319272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Coordination bonus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331927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9A"/>
                </a:solidFill>
              </a:rPr>
              <a:t>+2.0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3319272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Multi-agent handoff required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712464"/>
            <a:ext cx="11247120" cy="448056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794760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Terminal success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79476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B070"/>
                </a:solidFill>
              </a:rPr>
              <a:t>+75.0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794760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Episode completion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187952"/>
            <a:ext cx="11247120" cy="448056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270248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Redundant 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27024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53E3E"/>
                </a:solidFill>
              </a:rPr>
              <a:t>-1.0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4270248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Penalises reward farming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63440"/>
            <a:ext cx="11247120" cy="448056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745736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Step cost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4745736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C6000"/>
                </a:solidFill>
              </a:rPr>
              <a:t>-0.10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745736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Efficiency pressure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138928"/>
            <a:ext cx="11247120" cy="448056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221224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Timeout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5221224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53E3E"/>
                </a:solidFill>
              </a:rPr>
              <a:t>-15.0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5221224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Horizon enforcement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solidFill>
            <a:srgbClr val="E6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610819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A5A36"/>
                </a:solidFill>
              </a:rPr>
              <a:t>Verification: Success = state predicate over SQLite - not string match, not LLM judge. Clause-boundary negation detection: "NOT approved" → fail · "Approved. No further action." → pass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1: THE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Evaluation, Baselines &amp; Replay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Three-tier policy taxonomy · Wilson 95% CI · HTML trajectory viewer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142232"/>
            <a:ext cx="2926080" cy="109728"/>
          </a:xfrm>
          <a:prstGeom prst="rect">
            <a:avLst/>
          </a:prstGeom>
          <a:solidFill>
            <a:srgbClr val="FFA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7647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A52A"/>
                </a:solidFill>
              </a:rPr>
              <a:t>0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32511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B3C"/>
                </a:solidFill>
              </a:rPr>
              <a:t>Zero-Shot LLM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203704"/>
            <a:ext cx="2926080" cy="2048256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837944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9CFF"/>
                </a:solidFill>
              </a:rPr>
              <a:t>24 /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432511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B3C"/>
                </a:solidFill>
              </a:rPr>
              <a:t>Hint-Guided LLM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1691640"/>
            <a:ext cx="2926080" cy="2560320"/>
          </a:xfrm>
          <a:prstGeom prst="rect">
            <a:avLst/>
          </a:prstGeom>
          <a:solidFill>
            <a:srgbClr val="1A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325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B070"/>
                </a:solidFill>
              </a:rPr>
              <a:t>30 / 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32511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B3C"/>
                </a:solidFill>
              </a:rPr>
              <a:t>Oracle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251960"/>
            <a:ext cx="10515600" cy="3657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663440"/>
            <a:ext cx="11247120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73659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Policy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39" y="47365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Result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2120" y="4736592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Notes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74920"/>
            <a:ext cx="11247120" cy="393192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514807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Zero-Shot LLM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39" y="514807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0/30 ep (5 ep/task)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5148072"/>
            <a:ext cx="649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qwen2.5:3b - model-dependent result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495544"/>
            <a:ext cx="11247120" cy="393192"/>
          </a:xfrm>
          <a:prstGeom prst="rect">
            <a:avLst/>
          </a:prstGeom>
          <a:solidFill>
            <a:srgbClr val="EFF3F7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5568696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Hint-Guided LLM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39" y="5568696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24/30 ep (5 ep/task)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2120" y="5568696"/>
            <a:ext cx="649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SOP debug baseline - NOT autonomous capability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916168"/>
            <a:ext cx="11247120" cy="393192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98932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Oracle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0439" y="598932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30/30 episodes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32120" y="5989320"/>
            <a:ext cx="649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Scripted upper bound - proves solvability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1: THE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Research Use Cases &amp; Honest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What the benchmark measures · where it stops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5577840" cy="4389120"/>
          </a:xfrm>
          <a:prstGeom prst="rect">
            <a:avLst/>
          </a:prstGeom>
          <a:solidFill>
            <a:srgbClr val="E6F6EF"/>
          </a:solidFill>
          <a:ln w="10160">
            <a:solidFill>
              <a:srgbClr val="1AB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B070"/>
                </a:solidFill>
              </a:rPr>
              <a:t>What this benchmark studies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9456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•  Planning: multi-step reasoning across apps and roles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79191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•  Tool use: structured semantic action under partial observability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163824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•  Coordination: one agent's output blocks another's subgoal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648456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•  Delegation: transferring work across roles at the correct moment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133087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•  Long-horizon reasoning: 8-17 subgoals, 25-45 step episodes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61772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•  Partial observability: asymmetric info across heterogeneous agents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102352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•  Credit assignment: shaped reward over dependency-gated DAG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586983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•  Error recovery: invalid action returns error; agent must adapt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691640"/>
            <a:ext cx="5577840" cy="4389120"/>
          </a:xfrm>
          <a:prstGeom prst="rect">
            <a:avLst/>
          </a:prstGeom>
          <a:solidFill>
            <a:srgbClr val="FFF8E8"/>
          </a:solidFill>
          <a:ln w="10160">
            <a:solidFill>
              <a:srgbClr val="FFA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73736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A52A"/>
                </a:solidFill>
              </a:rPr>
              <a:t>Honest Limitations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194560"/>
            <a:ext cx="5212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•  Turn-based sequential - true parallel MARL needs action encoder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852928"/>
            <a:ext cx="5212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•  PettingZoo AEC adapter is experimental, not fully tested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3511296"/>
            <a:ext cx="5212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•  Entity IDs fixed per task family (Factory V1) - not entity-disjoint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169664"/>
            <a:ext cx="5212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•  Zero-shot measured on qwen2.5:3b only - model-dependent result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828031"/>
            <a:ext cx="5212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•  No Figma, GitHub, or HR app simulators in this version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1: THE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RL &amp; Research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Gymnasium-compatible · CTDE framing · evaluator state never exposed to policy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5303520" cy="2651760"/>
          </a:xfrm>
          <a:prstGeom prst="rect">
            <a:avLst/>
          </a:prstGeom>
          <a:solidFill>
            <a:srgbClr val="E6F0FF"/>
          </a:solidFill>
          <a:ln w="10160">
            <a:solidFill>
              <a:srgbClr val="2E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9CFF"/>
                </a:solidFill>
              </a:rPr>
              <a:t>Observation (per-agent, role-filtered)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76272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B3C"/>
                </a:solidFill>
              </a:rPr>
              <a:t>"agent":    {employee_id, name, role, team_id}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523744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B3C"/>
                </a:solidFill>
              </a:rPr>
              <a:t>"inbox":    [email headers]  - body requires read_email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71215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B3C"/>
                </a:solidFill>
              </a:rPr>
              <a:t>"channels": [channel records]  - own channels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218688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B3C"/>
                </a:solidFill>
              </a:rPr>
              <a:t>"calendar": [event records]  - own calendar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566160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B3C"/>
                </a:solidFill>
              </a:rPr>
              <a:t>"sheets":   [{sheet_id, name, role}]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913631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B3C"/>
                </a:solidFill>
              </a:rPr>
              <a:t>"task":     {id, name, instruction}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1691640"/>
            <a:ext cx="5852160" cy="1234440"/>
          </a:xfrm>
          <a:prstGeom prst="rect">
            <a:avLst/>
          </a:prstGeom>
          <a:solidFill>
            <a:srgbClr val="E6F6EF"/>
          </a:solidFill>
          <a:ln w="10160">
            <a:solidFill>
              <a:srgbClr val="1AB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760" y="173736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B070"/>
                </a:solidFill>
              </a:rPr>
              <a:t>Action (structured semantic space)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148840"/>
            <a:ext cx="5623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B3C"/>
                </a:solidFill>
              </a:rPr>
              <a:t>Action(agent_id="pm_01", app="jira",
       action_type="change_status",
       parameters={"issue_id": "VEND-401", "status": "approved"})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0" y="3063240"/>
            <a:ext cx="5852160" cy="1234440"/>
          </a:xfrm>
          <a:prstGeom prst="rect">
            <a:avLst/>
          </a:prstGeom>
          <a:solidFill>
            <a:srgbClr val="FFF0D8"/>
          </a:solidFill>
          <a:ln w="10160">
            <a:solidFill>
              <a:srgbClr val="FFA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760" y="310896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A52A"/>
                </a:solidFill>
              </a:rPr>
              <a:t>Step return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474720"/>
            <a:ext cx="5623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B3C"/>
                </a:solidFill>
              </a:rPr>
              <a:t>obs, reward, terminated, truncated, info = env.step(action)
info["eval"]  →  {progress, subgoals, reward_components}
               # evaluator-only - NOT shown to agent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526280"/>
            <a:ext cx="11430000" cy="13258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5720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9CFF"/>
                </a:solidFill>
              </a:rPr>
              <a:t>CTDE Framing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010912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D8FF"/>
                </a:solidFill>
              </a:rPr>
              <a:t>Training centralises info["eval"] subgoal labels for critic conditioning.
Execution uses per-agent obs only - policies are fully decentralised.
18 action types across 5 apps. Each agent sees only their permitted subset (14-18 actions).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1: THE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Research Questions Enabled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The 80-point gap between zero-shot (0/30) and hint-guided (24/30) is the open problem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11430000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737360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Research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1737360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80" y="1737360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Benchmark Feature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103120"/>
            <a:ext cx="11430000" cy="457200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94560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Can BC close 0% to 80%?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2194560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Behavioral Cloning on oracle trajectories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2194560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Trajectory export, deterministic seed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578608"/>
            <a:ext cx="11430000" cy="457200"/>
          </a:xfrm>
          <a:prstGeom prst="rect">
            <a:avLst/>
          </a:prstGeom>
          <a:solidFill>
            <a:srgbClr val="EFF3F7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2670048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CTDE vs IQL?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2670048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MAPPO vs IQL (shared vs independent critic)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2670048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info["eval"]["subgoals"] labels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054096"/>
            <a:ext cx="11430000" cy="457200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3145536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Does action masking help?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3145536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PPO with/without permission mask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3145536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Static permission table per agent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529584"/>
            <a:ext cx="11430000" cy="457200"/>
          </a:xfrm>
          <a:prstGeom prst="rect">
            <a:avLst/>
          </a:prstGeom>
          <a:solidFill>
            <a:srgbClr val="EFF3F7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621024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Distractor density effect?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60520" y="3621024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RL across easy to adversarial presets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80" y="3621024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4 difficulty levels, calibrated counts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005072"/>
            <a:ext cx="11430000" cy="457200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096511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Can policy generalise seeds?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60520" y="4096511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Train 0-999k, test 2M-3M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80" y="4096511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Disjoint seed-range splits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480560"/>
            <a:ext cx="11430000" cy="457200"/>
          </a:xfrm>
          <a:prstGeom prst="rect">
            <a:avLst/>
          </a:prstGeom>
          <a:solidFill>
            <a:srgbClr val="EFF3F7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4572000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Shaped vs sparse reward?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60520" y="4572000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Ablate subgoal bonus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80" y="4572000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Reward component breakdown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956048"/>
            <a:ext cx="11430000" cy="457200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5047488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Offline RL near-oracle?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60520" y="5047488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IQL / CQL on oracle dataset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83880" y="5047488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export_dataset()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6035040"/>
            <a:ext cx="11430000" cy="5943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12648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9CFF"/>
                </a:solidFill>
              </a:rPr>
              <a:t>Next: Behavioral Cloning on hint-guided trajectories → PPO against shaped reward → entity-disjoint OOD evaluation via Factory V2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The Scenario Factory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38328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B0D8FF"/>
                </a:solidFill>
              </a:rPr>
              <a:t>A handcrafted task is a demo.
A factory that mass-produces environments is a research instrument.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4572000"/>
            <a:ext cx="4114800" cy="1005840"/>
          </a:xfrm>
          <a:prstGeom prst="rect">
            <a:avLst/>
          </a:prstGeom>
          <a:solidFill>
            <a:srgbClr val="00D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20240" y="4645152"/>
            <a:ext cx="393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ScenarioFactory V1
All 6 tasks - IMPLEMENTED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4572000"/>
            <a:ext cx="4114800" cy="1005840"/>
          </a:xfrm>
          <a:prstGeom prst="rect">
            <a:avLst/>
          </a:prstGeom>
          <a:solidFill>
            <a:srgbClr val="FFA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0" y="4645152"/>
            <a:ext cx="393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Factory V2 - entity-level
Vendor onboarding - PROTOTYPE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2: THE SCENARIO FACTORY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Why a Factory Is Necessary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RL training requires seed-disjoint episodes - 6 handcrafted tasks are not enough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11247120" cy="4572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92807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Need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892807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Without Factory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19" y="1892807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With Factory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86000"/>
            <a:ext cx="11247120" cy="621792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41401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B3C"/>
                </a:solidFill>
              </a:rPr>
              <a:t>Training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414016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3E3E"/>
                </a:solidFill>
              </a:rPr>
              <a:t>Same 6 episodes every 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2414016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B070"/>
                </a:solidFill>
              </a:rPr>
              <a:t>1,000+ seed-disjoint episodes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11247120" cy="621792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7238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B3C"/>
                </a:solidFill>
              </a:rPr>
              <a:t>Generalization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3072384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3E3E"/>
                </a:solidFill>
              </a:rPr>
              <a:t>Impossible - train =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3072384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B070"/>
                </a:solidFill>
              </a:rPr>
              <a:t>Held-out seed spaces enforced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02736"/>
            <a:ext cx="11247120" cy="621792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73075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B3C"/>
                </a:solidFill>
              </a:rPr>
              <a:t>Curriculum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37560" y="3730752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3E3E"/>
                </a:solidFill>
              </a:rPr>
              <a:t>Manual difficulty adjustment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3730752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B070"/>
                </a:solidFill>
              </a:rPr>
              <a:t>easy to adversarial presets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61104"/>
            <a:ext cx="11247120" cy="621792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3891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B3C"/>
                </a:solidFill>
              </a:rPr>
              <a:t>Reproducibility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7560" y="4389120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3E3E"/>
                </a:solidFill>
              </a:rPr>
              <a:t>Hope nothing changed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5240" y="4389120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B070"/>
                </a:solidFill>
              </a:rPr>
              <a:t>Same seed, identical episode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919472"/>
            <a:ext cx="11247120" cy="621792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04748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B3C"/>
                </a:solidFill>
              </a:rPr>
              <a:t>Scale-up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37560" y="5047488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3E3E"/>
                </a:solidFill>
              </a:rPr>
              <a:t>6 tasks maximum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35240" y="5047488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B070"/>
                </a:solidFill>
              </a:rPr>
              <a:t>Thousands of validated instances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2: THE SCENARIO FACTORY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ScenarioFactory V1 - Implemented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All 6 tasks · 4 difficulty presets · seed-disjoint splits · validated manifests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11247120" cy="502920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320040" cy="502920"/>
          </a:xfrm>
          <a:prstGeom prst="rect">
            <a:avLst/>
          </a:prstGeom>
          <a:solidFill>
            <a:srgbClr val="00D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Yes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B3C"/>
                </a:solidFill>
              </a:rPr>
              <a:t>build(task, seed, difficulty)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828800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BAD"/>
                </a:solidFill>
              </a:rPr>
              <a:t>Live, validated env in one call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04288"/>
            <a:ext cx="11247120" cy="502920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304288"/>
            <a:ext cx="320040" cy="502920"/>
          </a:xfrm>
          <a:prstGeom prst="rect">
            <a:avLst/>
          </a:prstGeom>
          <a:solidFill>
            <a:srgbClr val="00D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39572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Yes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39572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B3C"/>
                </a:solidFill>
              </a:rPr>
              <a:t>4 difficulty presets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395728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BAD"/>
                </a:solidFill>
              </a:rPr>
              <a:t>easy (2) / medium (6) / hard (15) / adversarial (30) distractors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71215"/>
            <a:ext cx="11247120" cy="502920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871215"/>
            <a:ext cx="320040" cy="502920"/>
          </a:xfrm>
          <a:prstGeom prst="rect">
            <a:avLst/>
          </a:prstGeom>
          <a:solidFill>
            <a:srgbClr val="00D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96265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Yes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96265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B3C"/>
                </a:solidFill>
              </a:rPr>
              <a:t>Realistic distractor pools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2962656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BAD"/>
                </a:solidFill>
              </a:rPr>
              <a:t>10 email subjects, 7 Jira tickets, 6 Slack messages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438144"/>
            <a:ext cx="11247120" cy="502920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438144"/>
            <a:ext cx="320040" cy="502920"/>
          </a:xfrm>
          <a:prstGeom prst="rect">
            <a:avLst/>
          </a:prstGeom>
          <a:solidFill>
            <a:srgbClr val="00D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52958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Yes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529584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B3C"/>
                </a:solidFill>
              </a:rPr>
              <a:t>Seed-disjoint splits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3529584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BAD"/>
                </a:solidFill>
              </a:rPr>
              <a:t>train: 0-999k  /  dev: 1M-2M  /  test: 2M-3M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05072"/>
            <a:ext cx="11247120" cy="502920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005072"/>
            <a:ext cx="320040" cy="502920"/>
          </a:xfrm>
          <a:prstGeom prst="rect">
            <a:avLst/>
          </a:prstGeom>
          <a:solidFill>
            <a:srgbClr val="00D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096511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Yes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096511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B3C"/>
                </a:solidFill>
              </a:rPr>
              <a:t>JSONL manifest export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4096511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BAD"/>
                </a:solidFill>
              </a:rPr>
              <a:t>scenario_id, seed, difficulty, apps, agents, subgoal_count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572000"/>
            <a:ext cx="11247120" cy="502920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572000"/>
            <a:ext cx="320040" cy="502920"/>
          </a:xfrm>
          <a:prstGeom prst="rect">
            <a:avLst/>
          </a:prstGeom>
          <a:solidFill>
            <a:srgbClr val="00D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6634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Yes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46634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B3C"/>
                </a:solidFill>
              </a:rPr>
              <a:t>Validation gates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663440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BAD"/>
                </a:solidFill>
              </a:rPr>
              <a:t>Zero initial progress · acyclic DAG · dep IDs resolve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138927"/>
            <a:ext cx="11247120" cy="502920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138927"/>
            <a:ext cx="320040" cy="502920"/>
          </a:xfrm>
          <a:prstGeom prst="rect">
            <a:avLst/>
          </a:prstGeom>
          <a:solidFill>
            <a:srgbClr val="00D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5230367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Yes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5230367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B3C"/>
                </a:solidFill>
              </a:rPr>
              <a:t>6 task families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4840" y="5230367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BAD"/>
                </a:solidFill>
              </a:rPr>
              <a:t>Full DAG, verifier, oracle baseline for every task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760720"/>
            <a:ext cx="11247120" cy="8686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806440"/>
            <a:ext cx="10972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E8FF"/>
                </a:solidFill>
              </a:rPr>
              <a:t>factory = ScenarioFactory()
env, obs, info = factory.build("vendor_onboarding", seed=42, difficulty="hard")
# info["validator_status"] == "passed"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2: THE SCENARIO FACTORY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Factory V2 - Entity-Level World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Vertical slice proof-of-concept on vendor_onboarding · same pipeline designed to extend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5394960" cy="4114800"/>
          </a:xfrm>
          <a:prstGeom prst="rect">
            <a:avLst/>
          </a:prstGeom>
          <a:solidFill>
            <a:srgbClr val="E6F0FF"/>
          </a:solidFill>
          <a:ln w="10160">
            <a:solidFill>
              <a:srgbClr val="2E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73736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9CFF"/>
                </a:solidFill>
              </a:rPr>
              <a:t>Seed 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128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Company: Smart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8833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Tickets: METR-401, METR-402, METR-403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16382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Unique employee names + emails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63931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sha256:841edac7c2667c37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1148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59028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B070"/>
                </a:solidFill>
              </a:rPr>
              <a:t>Oracle: PASS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691640"/>
            <a:ext cx="5394960" cy="4114800"/>
          </a:xfrm>
          <a:prstGeom prst="rect">
            <a:avLst/>
          </a:prstGeom>
          <a:solidFill>
            <a:srgbClr val="E8F6EE"/>
          </a:solidFill>
          <a:ln w="10160">
            <a:solidFill>
              <a:srgbClr val="00D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73736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9A"/>
                </a:solidFill>
              </a:rPr>
              <a:t>Seed 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2128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Company: Stellar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68833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Tickets: SERV-401, SERV-402, SERV-403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16382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Different employee names + emails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3931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>sha256:cbebc420d7920829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1148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B3C"/>
                </a:solidFill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59028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B070"/>
                </a:solidFill>
              </a:rPr>
              <a:t>Oracle: PASS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989320"/>
            <a:ext cx="11247120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D8FF"/>
                </a:solidFill>
              </a:rPr>
              <a:t>Every generated world is oracle-verified at generation time. Same DAG structure, completely different operational context per seed.
CompanySpec → WorldGenerator (isolated RNG) → WorldValidator → GeneratedVendorOnboardingTask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2: THE SCENARIO FACTORY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Feature Status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Delivered · Experimental · Planned - clearly separated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37360"/>
            <a:ext cx="3840480" cy="502920"/>
          </a:xfrm>
          <a:prstGeom prst="rect">
            <a:avLst/>
          </a:prstGeom>
          <a:solidFill>
            <a:srgbClr val="1A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0136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IMPLEMENTED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286000"/>
            <a:ext cx="3840480" cy="457200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35000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6 tasks + DAG verifiers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79776"/>
            <a:ext cx="3840480" cy="457200"/>
          </a:xfrm>
          <a:prstGeom prst="rect">
            <a:avLst/>
          </a:prstGeom>
          <a:solidFill>
            <a:srgbClr val="EFF3F7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43784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ScenarioFactory (all 6 tasks)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273552"/>
            <a:ext cx="3840480" cy="457200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33756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Oracle + hint-guided + zero-shot baselines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767328"/>
            <a:ext cx="3840480" cy="457200"/>
          </a:xfrm>
          <a:prstGeom prst="rect">
            <a:avLst/>
          </a:prstGeom>
          <a:solidFill>
            <a:srgbClr val="EFF3F7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831335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Deterministic DB-state verification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261104"/>
            <a:ext cx="3840480" cy="457200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32511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Role-based permissions (RBAC)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754880"/>
            <a:ext cx="3840480" cy="457200"/>
          </a:xfrm>
          <a:prstGeom prst="rect">
            <a:avLst/>
          </a:prstGeom>
          <a:solidFill>
            <a:srgbClr val="EFF3F7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81888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Shaped reward + anti-hacking logic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248656"/>
            <a:ext cx="3840480" cy="457200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5312664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Trajectory export + replay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742432"/>
            <a:ext cx="3840480" cy="457200"/>
          </a:xfrm>
          <a:prstGeom prst="rect">
            <a:avLst/>
          </a:prstGeom>
          <a:solidFill>
            <a:srgbClr val="EFF3F7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80644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Streamlit dashboard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6236208"/>
            <a:ext cx="3840480" cy="457200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300216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Docker Compose deployment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1737360"/>
            <a:ext cx="3840480" cy="502920"/>
          </a:xfrm>
          <a:prstGeom prst="rect">
            <a:avLst/>
          </a:prstGeom>
          <a:solidFill>
            <a:srgbClr val="FFA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0" y="180136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PROTOTYPE / EXPERIMENTAL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80" y="2286000"/>
            <a:ext cx="3840480" cy="457200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34840" y="235000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Factory V2 world generation (1 task)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7680" y="2779776"/>
            <a:ext cx="3840480" cy="457200"/>
          </a:xfrm>
          <a:prstGeom prst="rect">
            <a:avLst/>
          </a:prstGeom>
          <a:solidFill>
            <a:srgbClr val="EFF3F7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34840" y="2843784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PettingZoo AEC adapter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0" y="3273552"/>
            <a:ext cx="3840480" cy="457200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333756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SHA-256 world fingerprinting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97680" y="3767328"/>
            <a:ext cx="3840480" cy="457200"/>
          </a:xfrm>
          <a:prstGeom prst="rect">
            <a:avLst/>
          </a:prstGeom>
          <a:solidFill>
            <a:srgbClr val="EFF3F7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831335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WorldValidator structural checks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1737360"/>
            <a:ext cx="3749040" cy="502920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18013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ROADMAP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0" y="2286000"/>
            <a:ext cx="3749040" cy="457200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66760" y="235000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Factory V2 for all 6 tasks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0" y="2779776"/>
            <a:ext cx="3749040" cy="457200"/>
          </a:xfrm>
          <a:prstGeom prst="rect">
            <a:avLst/>
          </a:prstGeom>
          <a:solidFill>
            <a:srgbClr val="EFF3F7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66760" y="2843784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DAG synthesizer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0" y="3273552"/>
            <a:ext cx="3749040" cy="457200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66760" y="333756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Org/identity generator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9600" y="3767328"/>
            <a:ext cx="3749040" cy="457200"/>
          </a:xfrm>
          <a:prstGeom prst="rect">
            <a:avLst/>
          </a:prstGeom>
          <a:solidFill>
            <a:srgbClr val="EFF3F7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66760" y="3831335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Automated verifier generation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9600" y="4261104"/>
            <a:ext cx="3749040" cy="457200"/>
          </a:xfrm>
          <a:prstGeom prst="rect">
            <a:avLst/>
          </a:prstGeom>
          <a:solidFill>
            <a:srgbClr val="F7FAFC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66760" y="432511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Entity-disjoint OOD splits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4754880"/>
            <a:ext cx="3749040" cy="457200"/>
          </a:xfrm>
          <a:prstGeom prst="rect">
            <a:avLst/>
          </a:prstGeom>
          <a:solidFill>
            <a:srgbClr val="EFF3F7"/>
          </a:solidFill>
          <a:ln w="381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66760" y="481888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Large-scale curriculum calibration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6126480"/>
            <a:ext cx="11430000" cy="5486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619963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9CFF"/>
                </a:solidFill>
              </a:rPr>
              <a:t>118 tests pass (70 environment + 48 factory_v2)  ·  0 failed  ·  0 flaky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SECTION 2: THE SCENARIO FACTORY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B3C"/>
                </a:solidFill>
              </a:rPr>
              <a:t>Difficulty, Curriculum &amp; Reproducibility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E9CFF"/>
                </a:solidFill>
              </a:rPr>
              <a:t>4 distractor presets · seed-disjoint splits · same seed = identical episode always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0195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Preset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90195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Distractors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901952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Effect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286000"/>
            <a:ext cx="274320" cy="548640"/>
          </a:xfrm>
          <a:prstGeom prst="rect">
            <a:avLst/>
          </a:prstGeom>
          <a:solidFill>
            <a:srgbClr val="1A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9572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B070"/>
                </a:solidFill>
              </a:rPr>
              <a:t>easy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39572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B3C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23957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Minimal noise - near-direct path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880360"/>
            <a:ext cx="8229600" cy="548640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880360"/>
            <a:ext cx="274320" cy="54864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99008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9CFF"/>
                </a:solidFill>
              </a:rPr>
              <a:t>medium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299008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B3C"/>
                </a:solidFill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299008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Focused retrieval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solidFill>
            <a:srgbClr val="F7FAFC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474720"/>
            <a:ext cx="274320" cy="548640"/>
          </a:xfrm>
          <a:prstGeom prst="rect">
            <a:avLst/>
          </a:prstGeom>
          <a:solidFill>
            <a:srgbClr val="FFA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58444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A52A"/>
                </a:solidFill>
              </a:rPr>
              <a:t>hard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358444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B3C"/>
                </a:solidFill>
              </a:rP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358444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Heavy noise - same domain, wrong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solidFill>
            <a:srgbClr val="EFF3F7"/>
          </a:solidFill>
          <a:ln w="5080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069080"/>
            <a:ext cx="274320" cy="548640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17880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53E3E"/>
                </a:solidFill>
              </a:rPr>
              <a:t>adversarial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417880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B3C"/>
                </a:solidFill>
              </a:rPr>
              <a:t>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417880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Near-miss keywords designed to mislead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69680" y="1828800"/>
            <a:ext cx="3017520" cy="2377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874519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9CFF"/>
                </a:solidFill>
              </a:rPr>
              <a:t>Seed Splits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40" y="2331720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A9BAD"/>
                </a:solidFill>
              </a:rPr>
              <a:t>train: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9840" y="2331720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0 to 999k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6840" y="2834639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A9BAD"/>
                </a:solidFill>
              </a:rPr>
              <a:t>dev: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2834639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1M to 2M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06840" y="3337560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A9BAD"/>
                </a:solidFill>
              </a:rPr>
              <a:t>test: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3337560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2M to 3M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800600"/>
            <a:ext cx="11247120" cy="960120"/>
          </a:xfrm>
          <a:prstGeom prst="rect">
            <a:avLst/>
          </a:prstGeom>
          <a:solidFill>
            <a:srgbClr val="E8F4FF"/>
          </a:solidFill>
          <a:ln w="10160">
            <a:solidFill>
              <a:srgbClr val="2E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4846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python scripts/generate_dataset.py \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51023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    --output generated_scenarios --train 1000 --dev 200 --test 500 --difficulty hard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3766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9BAD"/>
                </a:solidFill>
              </a:rPr>
              <a:t># Oracle = 100% at all difficulty levels  ·  Zero-Shot = 0% at all difficulty levels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5943600"/>
            <a:ext cx="11247120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9CFF"/>
                </a:solidFill>
              </a:rPr>
              <a:t>Disjoint seed ranges prevent episode reuse across train/dev/test. Same seed → identical episode, always - fully reproducible.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SECTION 2: THE SCENARIO FACTORY  ·  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The Open Research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371600"/>
            <a:ext cx="2560320" cy="914400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3898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Zero-Shot 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6916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0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16459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E9CFF"/>
                </a:solidFill>
              </a:rPr>
              <a:t>← 80-point gap 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371600"/>
            <a:ext cx="2560320" cy="914400"/>
          </a:xfrm>
          <a:prstGeom prst="rect">
            <a:avLst/>
          </a:prstGeom>
          <a:solidFill>
            <a:srgbClr val="2E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3898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Hint-Guided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6916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24 / 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6888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B0D8FF"/>
                </a:solidFill>
              </a:rPr>
              <a:t>Can autonomous multi-agent systems close the gap between
zero-shot performance (0/30) and procedurally-guided performance (24/30)
in realistic enterprise coordination workflows?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5760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6 long-horizon multi-agent tasks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087368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5 apps · 5 agents · role-based permissions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517136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Dependency-gated subgoal DAGs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946904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Deterministic DB-state verification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76672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Oracle 30/30 · Hint-guided 24/30 · Zero-Shot 0/30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65760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ScenarioFactory: seeds x difficulty x splits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087368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Factory V2: entity-level world generation (prototype)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517136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118 automated tests · 0 flaky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946904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Docker Compose reproducible deployment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943600"/>
            <a:ext cx="11247120" cy="6858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05332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9CFF"/>
                </a:solidFill>
              </a:rPr>
              <a:t>Next: Behavioral Cloning → PPO against shaped reward → entity-disjoint OOD eval via Factory V2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